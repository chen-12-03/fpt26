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672" r:id="rId3"/>
    <p:sldId id="849" r:id="rId5"/>
    <p:sldId id="816" r:id="rId6"/>
    <p:sldId id="789" r:id="rId7"/>
    <p:sldId id="896" r:id="rId8"/>
    <p:sldId id="799" r:id="rId9"/>
    <p:sldId id="901" r:id="rId10"/>
    <p:sldId id="903" r:id="rId11"/>
    <p:sldId id="902" r:id="rId12"/>
    <p:sldId id="8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3"/>
    <a:srgbClr val="EEF2EA"/>
    <a:srgbClr val="385723"/>
    <a:srgbClr val="35562A"/>
    <a:srgbClr val="F4C400"/>
    <a:srgbClr val="FFC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38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9D925-CA79-435C-BDD5-BB2FBC3CE3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72794-FE95-4CF3-B5A5-DE24224ECE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D02A4A-2F78-42A2-8BB5-4E355942CA2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>
            <a:alphaModFix amt="1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 cstate="email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 cstate="email">
            <a:alphaModFix amt="3000"/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  <a:endParaRPr lang="zh-CN" altLang="en-US" dirty="0"/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  <a:endParaRPr lang="zh-CN" altLang="en-US" dirty="0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  <a:endParaRPr lang="zh-CN" altLang="en-US" dirty="0"/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  <a:endParaRPr lang="zh-CN" altLang="en-US" dirty="0"/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  <a:endParaRPr lang="zh-CN" altLang="en-US" dirty="0"/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  <a:endParaRPr lang="zh-CN" altLang="en-US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 cstate="email">
            <a:alphaModFix amt="15000"/>
          </a:blip>
          <a:srcRect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 cstate="email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5" cstate="email"/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en-US" altLang="zh-CN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3" Type="http://schemas.openxmlformats.org/officeDocument/2006/relationships/notesSlide" Target="../notesSlides/notesSlide2.xml"/><Relationship Id="rId42" Type="http://schemas.openxmlformats.org/officeDocument/2006/relationships/slideLayout" Target="../slideLayouts/slideLayout8.xml"/><Relationship Id="rId41" Type="http://schemas.openxmlformats.org/officeDocument/2006/relationships/tags" Target="../tags/tag37.xml"/><Relationship Id="rId40" Type="http://schemas.openxmlformats.org/officeDocument/2006/relationships/tags" Target="../tags/tag36.xml"/><Relationship Id="rId4" Type="http://schemas.openxmlformats.org/officeDocument/2006/relationships/tags" Target="../tags/tag3.xml"/><Relationship Id="rId39" Type="http://schemas.openxmlformats.org/officeDocument/2006/relationships/image" Target="../media/image12.png"/><Relationship Id="rId38" Type="http://schemas.openxmlformats.org/officeDocument/2006/relationships/image" Target="../media/image11.png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6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42.xml"/><Relationship Id="rId2" Type="http://schemas.openxmlformats.org/officeDocument/2006/relationships/image" Target="../media/image17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1645" y="2058035"/>
            <a:ext cx="6351531" cy="1453942"/>
          </a:xfrm>
        </p:spPr>
        <p:txBody>
          <a:bodyPr/>
          <a:lstStyle/>
          <a:p>
            <a:r>
              <a:rPr lang="zh-CN" altLang="en-US" sz="4000" dirty="0">
                <a:solidFill>
                  <a:srgbClr val="385723"/>
                </a:solidFill>
              </a:rPr>
              <a:t>面向</a:t>
            </a:r>
            <a:r>
              <a:rPr lang="en-US" altLang="zh-CN" sz="4000" dirty="0">
                <a:solidFill>
                  <a:srgbClr val="385723"/>
                </a:solidFill>
              </a:rPr>
              <a:t>FPT Track A</a:t>
            </a:r>
            <a:r>
              <a:rPr lang="zh-CN" altLang="en-US" sz="4000" dirty="0">
                <a:solidFill>
                  <a:srgbClr val="385723"/>
                </a:solidFill>
              </a:rPr>
              <a:t>的工具验证型</a:t>
            </a:r>
            <a:r>
              <a:rPr lang="en-US" altLang="zh-CN" sz="4000" dirty="0">
                <a:solidFill>
                  <a:srgbClr val="385723"/>
                </a:solidFill>
              </a:rPr>
              <a:t>HLS</a:t>
            </a:r>
            <a:r>
              <a:rPr lang="zh-CN" altLang="en-US" sz="4000" dirty="0">
                <a:solidFill>
                  <a:srgbClr val="385723"/>
                </a:solidFill>
              </a:rPr>
              <a:t>优化智能体</a:t>
            </a:r>
            <a:endParaRPr lang="zh-CN" altLang="en-US" sz="4000" dirty="0">
              <a:solidFill>
                <a:srgbClr val="385723"/>
              </a:solidFill>
            </a:endParaRPr>
          </a:p>
          <a:p>
            <a:endParaRPr lang="zh-CN" altLang="en-US" sz="4000" dirty="0">
              <a:ea typeface="+mn-ea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0844" y="4979683"/>
            <a:ext cx="4895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成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     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员：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陈际舟  文皓玉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胡笑歌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+mn-ea"/>
              </a:rPr>
              <a:t>     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1645" y="3623069"/>
            <a:ext cx="6486002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/>
            </a:pPr>
            <a:r>
              <a:rPr kumimoji="0" lang="en-US" altLang="zh-CN" sz="1600" b="0" i="0" u="none" strike="noStrike" kern="1200" cap="none" spc="5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A Tool-Verified HLS Optimization Agent for FPT Track A</a:t>
            </a:r>
            <a:endParaRPr kumimoji="0" lang="en-US" altLang="zh-CN" sz="1600" b="0" i="0" u="none" strike="noStrike" kern="1200" cap="none" spc="5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1645" y="1578610"/>
            <a:ext cx="553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spc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Verified-Candidate Loop（VCL）</a:t>
            </a:r>
            <a:endParaRPr lang="en-US" altLang="zh-CN" sz="2000" b="1" spc="100" dirty="0">
              <a:solidFill>
                <a:schemeClr val="accent2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2121535"/>
            <a:ext cx="5022215" cy="1127125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4674558" y="1906191"/>
            <a:ext cx="2813671" cy="4072640"/>
            <a:chOff x="4689163" y="2250996"/>
            <a:chExt cx="2813671" cy="4072640"/>
          </a:xfrm>
        </p:grpSpPr>
        <p:grpSp>
          <p:nvGrpSpPr>
            <p:cNvPr id="25" name="组合 24"/>
            <p:cNvGrpSpPr/>
            <p:nvPr/>
          </p:nvGrpSpPr>
          <p:grpSpPr>
            <a:xfrm>
              <a:off x="4689163" y="2250996"/>
              <a:ext cx="2813671" cy="4072640"/>
              <a:chOff x="5038726" y="2152651"/>
              <a:chExt cx="2114551" cy="3060702"/>
            </a:xfrm>
            <a:scene3d>
              <a:camera prst="perspectiveRelaxedModerately" fov="4200000"/>
              <a:lightRig rig="threePt" dir="t"/>
            </a:scene3d>
          </p:grpSpPr>
          <p:sp>
            <p:nvSpPr>
              <p:cNvPr id="26" name="îslïḍé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038726" y="2152651"/>
                <a:ext cx="2114551" cy="3060702"/>
              </a:xfrm>
              <a:custGeom>
                <a:avLst/>
                <a:gdLst>
                  <a:gd name="T0" fmla="*/ 13 w 415"/>
                  <a:gd name="T1" fmla="*/ 0 h 601"/>
                  <a:gd name="T2" fmla="*/ 320 w 415"/>
                  <a:gd name="T3" fmla="*/ 0 h 601"/>
                  <a:gd name="T4" fmla="*/ 366 w 415"/>
                  <a:gd name="T5" fmla="*/ 46 h 601"/>
                  <a:gd name="T6" fmla="*/ 415 w 415"/>
                  <a:gd name="T7" fmla="*/ 95 h 601"/>
                  <a:gd name="T8" fmla="*/ 415 w 415"/>
                  <a:gd name="T9" fmla="*/ 587 h 601"/>
                  <a:gd name="T10" fmla="*/ 401 w 415"/>
                  <a:gd name="T11" fmla="*/ 601 h 601"/>
                  <a:gd name="T12" fmla="*/ 13 w 415"/>
                  <a:gd name="T13" fmla="*/ 601 h 601"/>
                  <a:gd name="T14" fmla="*/ 0 w 415"/>
                  <a:gd name="T15" fmla="*/ 587 h 601"/>
                  <a:gd name="T16" fmla="*/ 0 w 415"/>
                  <a:gd name="T17" fmla="*/ 13 h 601"/>
                  <a:gd name="T18" fmla="*/ 13 w 415"/>
                  <a:gd name="T19" fmla="*/ 0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15" h="601">
                    <a:moveTo>
                      <a:pt x="13" y="0"/>
                    </a:moveTo>
                    <a:cubicBezTo>
                      <a:pt x="320" y="0"/>
                      <a:pt x="320" y="0"/>
                      <a:pt x="320" y="0"/>
                    </a:cubicBezTo>
                    <a:cubicBezTo>
                      <a:pt x="366" y="46"/>
                      <a:pt x="366" y="46"/>
                      <a:pt x="366" y="46"/>
                    </a:cubicBezTo>
                    <a:cubicBezTo>
                      <a:pt x="415" y="95"/>
                      <a:pt x="415" y="95"/>
                      <a:pt x="415" y="95"/>
                    </a:cubicBezTo>
                    <a:cubicBezTo>
                      <a:pt x="415" y="587"/>
                      <a:pt x="415" y="587"/>
                      <a:pt x="415" y="587"/>
                    </a:cubicBezTo>
                    <a:cubicBezTo>
                      <a:pt x="415" y="595"/>
                      <a:pt x="409" y="601"/>
                      <a:pt x="401" y="601"/>
                    </a:cubicBezTo>
                    <a:cubicBezTo>
                      <a:pt x="13" y="601"/>
                      <a:pt x="13" y="601"/>
                      <a:pt x="13" y="601"/>
                    </a:cubicBezTo>
                    <a:cubicBezTo>
                      <a:pt x="6" y="601"/>
                      <a:pt x="0" y="595"/>
                      <a:pt x="0" y="587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7" name="îṩḷîḋê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6669089" y="2152651"/>
                <a:ext cx="484188" cy="482600"/>
              </a:xfrm>
              <a:custGeom>
                <a:avLst/>
                <a:gdLst>
                  <a:gd name="T0" fmla="*/ 95 w 95"/>
                  <a:gd name="T1" fmla="*/ 95 h 95"/>
                  <a:gd name="T2" fmla="*/ 14 w 95"/>
                  <a:gd name="T3" fmla="*/ 95 h 95"/>
                  <a:gd name="T4" fmla="*/ 0 w 95"/>
                  <a:gd name="T5" fmla="*/ 81 h 95"/>
                  <a:gd name="T6" fmla="*/ 0 w 95"/>
                  <a:gd name="T7" fmla="*/ 0 h 95"/>
                  <a:gd name="T8" fmla="*/ 49 w 95"/>
                  <a:gd name="T9" fmla="*/ 49 h 95"/>
                  <a:gd name="T10" fmla="*/ 95 w 95"/>
                  <a:gd name="T11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5" h="95">
                    <a:moveTo>
                      <a:pt x="95" y="95"/>
                    </a:moveTo>
                    <a:cubicBezTo>
                      <a:pt x="14" y="95"/>
                      <a:pt x="14" y="95"/>
                      <a:pt x="14" y="95"/>
                    </a:cubicBezTo>
                    <a:cubicBezTo>
                      <a:pt x="6" y="95"/>
                      <a:pt x="0" y="89"/>
                      <a:pt x="0" y="8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9" y="49"/>
                      <a:pt x="49" y="49"/>
                      <a:pt x="49" y="49"/>
                    </a:cubicBezTo>
                    <a:lnTo>
                      <a:pt x="95" y="95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8" name="ïṧḷïḍe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5364163" y="2784477"/>
                <a:ext cx="1503363" cy="50800"/>
              </a:xfrm>
              <a:custGeom>
                <a:avLst/>
                <a:gdLst>
                  <a:gd name="T0" fmla="*/ 5 w 295"/>
                  <a:gd name="T1" fmla="*/ 0 h 10"/>
                  <a:gd name="T2" fmla="*/ 290 w 295"/>
                  <a:gd name="T3" fmla="*/ 0 h 10"/>
                  <a:gd name="T4" fmla="*/ 295 w 295"/>
                  <a:gd name="T5" fmla="*/ 5 h 10"/>
                  <a:gd name="T6" fmla="*/ 295 w 295"/>
                  <a:gd name="T7" fmla="*/ 5 h 10"/>
                  <a:gd name="T8" fmla="*/ 290 w 295"/>
                  <a:gd name="T9" fmla="*/ 10 h 10"/>
                  <a:gd name="T10" fmla="*/ 5 w 295"/>
                  <a:gd name="T11" fmla="*/ 10 h 10"/>
                  <a:gd name="T12" fmla="*/ 0 w 295"/>
                  <a:gd name="T13" fmla="*/ 5 h 10"/>
                  <a:gd name="T14" fmla="*/ 0 w 295"/>
                  <a:gd name="T15" fmla="*/ 5 h 10"/>
                  <a:gd name="T16" fmla="*/ 5 w 295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0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0"/>
                      <a:pt x="290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29" name="íşliḓé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5364163" y="3128436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0" name="iSḻiďè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5364163" y="3477159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1" name="ï$ḻïḍè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5364163" y="452332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2" name="íşľîḓé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5364163" y="4872043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3" name="íşli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5364161" y="3825882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6 h 11"/>
                  <a:gd name="T6" fmla="*/ 295 w 295"/>
                  <a:gd name="T7" fmla="*/ 6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6 h 11"/>
                  <a:gd name="T14" fmla="*/ 0 w 295"/>
                  <a:gd name="T15" fmla="*/ 6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3"/>
                      <a:pt x="295" y="6"/>
                    </a:cubicBezTo>
                    <a:cubicBezTo>
                      <a:pt x="295" y="6"/>
                      <a:pt x="295" y="6"/>
                      <a:pt x="295" y="6"/>
                    </a:cubicBezTo>
                    <a:cubicBezTo>
                      <a:pt x="295" y="9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  <p:sp>
            <p:nvSpPr>
              <p:cNvPr id="34" name="iSḻiďè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5364162" y="4174597"/>
                <a:ext cx="1503363" cy="55562"/>
              </a:xfrm>
              <a:custGeom>
                <a:avLst/>
                <a:gdLst>
                  <a:gd name="T0" fmla="*/ 5 w 295"/>
                  <a:gd name="T1" fmla="*/ 0 h 11"/>
                  <a:gd name="T2" fmla="*/ 290 w 295"/>
                  <a:gd name="T3" fmla="*/ 0 h 11"/>
                  <a:gd name="T4" fmla="*/ 295 w 295"/>
                  <a:gd name="T5" fmla="*/ 5 h 11"/>
                  <a:gd name="T6" fmla="*/ 295 w 295"/>
                  <a:gd name="T7" fmla="*/ 5 h 11"/>
                  <a:gd name="T8" fmla="*/ 290 w 295"/>
                  <a:gd name="T9" fmla="*/ 11 h 11"/>
                  <a:gd name="T10" fmla="*/ 5 w 295"/>
                  <a:gd name="T11" fmla="*/ 11 h 11"/>
                  <a:gd name="T12" fmla="*/ 0 w 295"/>
                  <a:gd name="T13" fmla="*/ 5 h 11"/>
                  <a:gd name="T14" fmla="*/ 0 w 295"/>
                  <a:gd name="T15" fmla="*/ 5 h 11"/>
                  <a:gd name="T16" fmla="*/ 5 w 295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5" h="11">
                    <a:moveTo>
                      <a:pt x="5" y="0"/>
                    </a:moveTo>
                    <a:cubicBezTo>
                      <a:pt x="290" y="0"/>
                      <a:pt x="290" y="0"/>
                      <a:pt x="290" y="0"/>
                    </a:cubicBezTo>
                    <a:cubicBezTo>
                      <a:pt x="293" y="0"/>
                      <a:pt x="295" y="2"/>
                      <a:pt x="295" y="5"/>
                    </a:cubicBezTo>
                    <a:cubicBezTo>
                      <a:pt x="295" y="5"/>
                      <a:pt x="295" y="5"/>
                      <a:pt x="295" y="5"/>
                    </a:cubicBezTo>
                    <a:cubicBezTo>
                      <a:pt x="295" y="8"/>
                      <a:pt x="293" y="11"/>
                      <a:pt x="290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sp3d contourW="25400" prstMaterial="matte">
                <a:bevelB w="0" h="0"/>
                <a:contourClr>
                  <a:schemeClr val="bg1">
                    <a:lumMod val="85000"/>
                  </a:schemeClr>
                </a:contourClr>
              </a:sp3d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  <p:pic>
          <p:nvPicPr>
            <p:cNvPr id="47" name="图片 46"/>
            <p:cNvPicPr/>
            <p:nvPr>
              <p:custDataLst>
                <p:tags r:id="rId12"/>
              </p:custDataLst>
            </p:nvPr>
          </p:nvPicPr>
          <p:blipFill>
            <a:blip r:embed="rId13" cstate="email">
              <a:alphaModFix amt="50000"/>
            </a:blip>
            <a:srcRect/>
            <a:stretch>
              <a:fillRect/>
            </a:stretch>
          </p:blipFill>
          <p:spPr>
            <a:xfrm>
              <a:off x="5025779" y="3503628"/>
              <a:ext cx="2170816" cy="2170812"/>
            </a:xfrm>
            <a:custGeom>
              <a:avLst/>
              <a:gdLst>
                <a:gd name="connsiteX0" fmla="*/ 1026607 w 2053214"/>
                <a:gd name="connsiteY0" fmla="*/ 0 h 2053210"/>
                <a:gd name="connsiteX1" fmla="*/ 2053214 w 2053214"/>
                <a:gd name="connsiteY1" fmla="*/ 1026605 h 2053210"/>
                <a:gd name="connsiteX2" fmla="*/ 1026607 w 2053214"/>
                <a:gd name="connsiteY2" fmla="*/ 2053210 h 2053210"/>
                <a:gd name="connsiteX3" fmla="*/ 0 w 2053214"/>
                <a:gd name="connsiteY3" fmla="*/ 1026605 h 2053210"/>
                <a:gd name="connsiteX4" fmla="*/ 1026607 w 2053214"/>
                <a:gd name="connsiteY4" fmla="*/ 0 h 2053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3214" h="2053210">
                  <a:moveTo>
                    <a:pt x="1026607" y="0"/>
                  </a:moveTo>
                  <a:cubicBezTo>
                    <a:pt x="1593586" y="0"/>
                    <a:pt x="2053214" y="459627"/>
                    <a:pt x="2053214" y="1026605"/>
                  </a:cubicBezTo>
                  <a:cubicBezTo>
                    <a:pt x="2053214" y="1593583"/>
                    <a:pt x="1593586" y="2053210"/>
                    <a:pt x="1026607" y="2053210"/>
                  </a:cubicBezTo>
                  <a:cubicBezTo>
                    <a:pt x="459628" y="2053210"/>
                    <a:pt x="0" y="1593583"/>
                    <a:pt x="0" y="1026605"/>
                  </a:cubicBezTo>
                  <a:cubicBezTo>
                    <a:pt x="0" y="459627"/>
                    <a:pt x="459628" y="0"/>
                    <a:pt x="1026607" y="0"/>
                  </a:cubicBezTo>
                  <a:close/>
                </a:path>
              </a:pathLst>
            </a:custGeom>
            <a:scene3d>
              <a:camera prst="perspectiveRelaxedModerately" fov="4200000"/>
              <a:lightRig rig="threePt" dir="t"/>
            </a:scene3d>
          </p:spPr>
        </p:pic>
      </p:grp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1141368" y="257081"/>
            <a:ext cx="8920029" cy="584200"/>
          </a:xfrm>
        </p:spPr>
        <p:txBody>
          <a:bodyPr/>
          <a:lstStyle/>
          <a:p>
            <a:r>
              <a:rPr lang="zh-CN" altLang="en-US" sz="3200" dirty="0">
                <a:solidFill>
                  <a:srgbClr val="385723"/>
                </a:solidFill>
                <a:ea typeface="+mn-ea"/>
                <a:cs typeface="+mn-ea"/>
                <a:sym typeface="+mn-ea"/>
              </a:rPr>
              <a:t>Track A 是带硬门控和预算约束的候选搜索</a:t>
            </a:r>
            <a:endParaRPr lang="zh-CN" altLang="en-US" sz="3200" dirty="0">
              <a:solidFill>
                <a:srgbClr val="385723"/>
              </a:solidFill>
              <a:ea typeface="+mn-ea"/>
              <a:cs typeface="+mn-ea"/>
            </a:endParaRPr>
          </a:p>
        </p:txBody>
      </p:sp>
      <p:grpSp>
        <p:nvGrpSpPr>
          <p:cNvPr id="11" name="组合 10"/>
          <p:cNvGrpSpPr/>
          <p:nvPr>
            <p:custDataLst>
              <p:tags r:id="rId14"/>
            </p:custDataLst>
          </p:nvPr>
        </p:nvGrpSpPr>
        <p:grpSpPr>
          <a:xfrm flipH="1">
            <a:off x="7593245" y="4440699"/>
            <a:ext cx="3796153" cy="71221"/>
            <a:chOff x="660400" y="5424930"/>
            <a:chExt cx="4028765" cy="72000"/>
          </a:xfrm>
        </p:grpSpPr>
        <p:cxnSp>
          <p:nvCxnSpPr>
            <p:cNvPr id="12" name="直接连接符 11"/>
            <p:cNvCxnSpPr>
              <a:stCxn id="13" idx="3"/>
            </p:cNvCxnSpPr>
            <p:nvPr>
              <p:custDataLst>
                <p:tags r:id="rId15"/>
              </p:custDataLst>
            </p:nvPr>
          </p:nvCxnSpPr>
          <p:spPr>
            <a:xfrm>
              <a:off x="1200400" y="5460930"/>
              <a:ext cx="348876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>
              <p:custDataLst>
                <p:tags r:id="rId16"/>
              </p:custDataLst>
            </p:nvPr>
          </p:nvSpPr>
          <p:spPr>
            <a:xfrm>
              <a:off x="660400" y="5424930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727805" y="5265176"/>
            <a:ext cx="3764820" cy="371187"/>
            <a:chOff x="1017258" y="3196675"/>
            <a:chExt cx="3859542" cy="371187"/>
          </a:xfrm>
        </p:grpSpPr>
        <p:cxnSp>
          <p:nvCxnSpPr>
            <p:cNvPr id="22" name="直接连接符 21"/>
            <p:cNvCxnSpPr/>
            <p:nvPr>
              <p:custDataLst>
                <p:tags r:id="rId18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9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>
              <p:custDataLst>
                <p:tags r:id="rId20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7593330" y="2684145"/>
            <a:ext cx="1292860" cy="5321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预算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约束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22"/>
            </p:custDataLst>
          </p:nvPr>
        </p:nvSpPr>
        <p:spPr>
          <a:xfrm>
            <a:off x="585360" y="1253861"/>
            <a:ext cx="498157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要解决的问题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是什么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23"/>
            </p:custDataLst>
          </p:nvPr>
        </p:nvSpPr>
        <p:spPr>
          <a:xfrm>
            <a:off x="7264851" y="969556"/>
            <a:ext cx="395795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硬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门控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43" name="椭圆 42"/>
          <p:cNvSpPr/>
          <p:nvPr>
            <p:custDataLst>
              <p:tags r:id="rId24"/>
            </p:custDataLst>
          </p:nvPr>
        </p:nvSpPr>
        <p:spPr>
          <a:xfrm>
            <a:off x="4428582" y="5611893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45" name="椭圆 44"/>
          <p:cNvSpPr/>
          <p:nvPr>
            <p:custDataLst>
              <p:tags r:id="rId25"/>
            </p:custDataLst>
          </p:nvPr>
        </p:nvSpPr>
        <p:spPr>
          <a:xfrm>
            <a:off x="7552016" y="4433266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grpSp>
        <p:nvGrpSpPr>
          <p:cNvPr id="51" name="组合 50"/>
          <p:cNvGrpSpPr/>
          <p:nvPr>
            <p:custDataLst>
              <p:tags r:id="rId26"/>
            </p:custDataLst>
          </p:nvPr>
        </p:nvGrpSpPr>
        <p:grpSpPr>
          <a:xfrm>
            <a:off x="6786110" y="2141508"/>
            <a:ext cx="4075565" cy="438272"/>
            <a:chOff x="7391759" y="2691471"/>
            <a:chExt cx="3704841" cy="438272"/>
          </a:xfrm>
        </p:grpSpPr>
        <p:cxnSp>
          <p:nvCxnSpPr>
            <p:cNvPr id="50" name="直接连接符 49"/>
            <p:cNvCxnSpPr/>
            <p:nvPr>
              <p:custDataLst>
                <p:tags r:id="rId27"/>
              </p:custDataLst>
            </p:nvPr>
          </p:nvCxnSpPr>
          <p:spPr>
            <a:xfrm>
              <a:off x="7444415" y="3063045"/>
              <a:ext cx="338400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/>
            <p:cNvGrpSpPr/>
            <p:nvPr/>
          </p:nvGrpSpPr>
          <p:grpSpPr>
            <a:xfrm>
              <a:off x="7391759" y="2691471"/>
              <a:ext cx="3704841" cy="438272"/>
              <a:chOff x="7382428" y="3148670"/>
              <a:chExt cx="3704841" cy="438272"/>
            </a:xfrm>
          </p:grpSpPr>
          <p:grpSp>
            <p:nvGrpSpPr>
              <p:cNvPr id="14" name="组合 13"/>
              <p:cNvGrpSpPr/>
              <p:nvPr>
                <p:custDataLst>
                  <p:tags r:id="rId28"/>
                </p:custDataLst>
              </p:nvPr>
            </p:nvGrpSpPr>
            <p:grpSpPr>
              <a:xfrm flipH="1">
                <a:off x="10547269" y="3148670"/>
                <a:ext cx="540000" cy="371187"/>
                <a:chOff x="1017258" y="2819053"/>
                <a:chExt cx="540000" cy="371187"/>
              </a:xfrm>
            </p:grpSpPr>
            <p:cxnSp>
              <p:nvCxnSpPr>
                <p:cNvPr id="15" name="直接连接符 14"/>
                <p:cNvCxnSpPr/>
                <p:nvPr>
                  <p:custDataLst>
                    <p:tags r:id="rId29"/>
                  </p:custDataLst>
                </p:nvPr>
              </p:nvCxnSpPr>
              <p:spPr>
                <a:xfrm>
                  <a:off x="1287258" y="2891053"/>
                  <a:ext cx="0" cy="29918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矩形 1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017258" y="2819053"/>
                  <a:ext cx="540000" cy="72000"/>
                </a:xfrm>
                <a:prstGeom prst="rect">
                  <a:avLst/>
                </a:prstGeom>
                <a:solidFill>
                  <a:schemeClr val="accent1"/>
                </a:solidFill>
                <a:ln w="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ea"/>
                  </a:endParaRPr>
                </a:p>
              </p:txBody>
            </p:sp>
          </p:grpSp>
          <p:sp>
            <p:nvSpPr>
              <p:cNvPr id="46" name="椭圆 45"/>
              <p:cNvSpPr/>
              <p:nvPr>
                <p:custDataLst>
                  <p:tags r:id="rId31"/>
                </p:custDataLst>
              </p:nvPr>
            </p:nvSpPr>
            <p:spPr>
              <a:xfrm>
                <a:off x="7382428" y="3471433"/>
                <a:ext cx="115509" cy="11550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cs typeface="+mn-ea"/>
                </a:endParaRPr>
              </a:p>
            </p:txBody>
          </p:sp>
        </p:grpSp>
      </p:grp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</p:spPr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  <a:cs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7113905" y="1430020"/>
            <a:ext cx="4906010" cy="6451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接口类型、顶层函数、输入类型；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仿真；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HLS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综合；频率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≥100MHz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；资源使用未超限；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联合仿真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3"/>
            </p:custDataLst>
          </p:nvPr>
        </p:nvSpPr>
        <p:spPr>
          <a:xfrm>
            <a:off x="522605" y="1722755"/>
            <a:ext cx="4067175" cy="4178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1.Agent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得到什么输入？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685" y="3404870"/>
            <a:ext cx="4471670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2.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搜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索什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么？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修复类任务：正确且相对优秀的结果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优化类任务：相较初始更为优秀的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结果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2605" y="4495800"/>
            <a:ext cx="4118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3.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什么情况下允许更新结果？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满足硬性要求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且</a:t>
            </a:r>
            <a:r>
              <a:rPr lang="en-US" altLang="zh-CN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量化结果</a:t>
            </a:r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更优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grpSp>
        <p:nvGrpSpPr>
          <p:cNvPr id="10" name="组合 9"/>
          <p:cNvGrpSpPr/>
          <p:nvPr>
            <p:custDataLst>
              <p:tags r:id="rId34"/>
            </p:custDataLst>
          </p:nvPr>
        </p:nvGrpSpPr>
        <p:grpSpPr>
          <a:xfrm flipH="1">
            <a:off x="7563485" y="5791835"/>
            <a:ext cx="2165350" cy="264160"/>
            <a:chOff x="1017258" y="3196675"/>
            <a:chExt cx="3859542" cy="371187"/>
          </a:xfrm>
        </p:grpSpPr>
        <p:cxnSp>
          <p:nvCxnSpPr>
            <p:cNvPr id="16" name="直接连接符 15"/>
            <p:cNvCxnSpPr/>
            <p:nvPr>
              <p:custDataLst>
                <p:tags r:id="rId35"/>
              </p:custDataLst>
            </p:nvPr>
          </p:nvCxnSpPr>
          <p:spPr>
            <a:xfrm>
              <a:off x="1287258" y="3268675"/>
              <a:ext cx="0" cy="299187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36"/>
              </p:custDataLst>
            </p:nvPr>
          </p:nvCxnSpPr>
          <p:spPr>
            <a:xfrm>
              <a:off x="1287258" y="3567862"/>
              <a:ext cx="358954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>
              <p:custDataLst>
                <p:tags r:id="rId37"/>
              </p:custDataLst>
            </p:nvPr>
          </p:nvSpPr>
          <p:spPr>
            <a:xfrm>
              <a:off x="1017258" y="3196675"/>
              <a:ext cx="540000" cy="72000"/>
            </a:xfrm>
            <a:prstGeom prst="rect">
              <a:avLst/>
            </a:prstGeom>
            <a:solidFill>
              <a:schemeClr val="accent1"/>
            </a:solidFill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ea"/>
              </a:endParaRP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37220" y="969645"/>
            <a:ext cx="3954780" cy="39433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44765" y="3104515"/>
            <a:ext cx="4058920" cy="1330960"/>
          </a:xfrm>
          <a:prstGeom prst="rect">
            <a:avLst/>
          </a:prstGeom>
        </p:spPr>
      </p:pic>
      <p:sp>
        <p:nvSpPr>
          <p:cNvPr id="49" name="文本框 48"/>
          <p:cNvSpPr txBox="1"/>
          <p:nvPr>
            <p:custDataLst>
              <p:tags r:id="rId40"/>
            </p:custDataLst>
          </p:nvPr>
        </p:nvSpPr>
        <p:spPr>
          <a:xfrm>
            <a:off x="7783830" y="4757420"/>
            <a:ext cx="5798185" cy="48006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硬件质量评分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cs typeface="+mn-ea"/>
              </a:rPr>
              <a:t>QHW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2" name="椭圆 51"/>
          <p:cNvSpPr/>
          <p:nvPr>
            <p:custDataLst>
              <p:tags r:id="rId41"/>
            </p:custDataLst>
          </p:nvPr>
        </p:nvSpPr>
        <p:spPr>
          <a:xfrm>
            <a:off x="7521536" y="5940121"/>
            <a:ext cx="115509" cy="11550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670165" y="51771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门控通过后，候选才进入QHW比较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如何同时度量性能改善与资源代价？</a:t>
            </a:r>
            <a:endParaRPr lang="zh-CN" altLang="en-US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60171" y="225419"/>
            <a:ext cx="8920029" cy="584200"/>
          </a:xfrm>
        </p:spPr>
        <p:txBody>
          <a:bodyPr/>
          <a:lstStyle/>
          <a:p>
            <a:r>
              <a:rPr lang="en-US" altLang="zh-CN" sz="3200" dirty="0">
                <a:solidFill>
                  <a:srgbClr val="385723"/>
                </a:solidFill>
              </a:rPr>
              <a:t>QHW：</a:t>
            </a:r>
            <a:r>
              <a:rPr lang="zh-CN" altLang="en-US" sz="3200" dirty="0">
                <a:solidFill>
                  <a:srgbClr val="385723"/>
                </a:solidFill>
              </a:rPr>
              <a:t>更快不等于更优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pic>
        <p:nvPicPr>
          <p:cNvPr id="15" name="Imag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2941955"/>
            <a:ext cx="1914525" cy="848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4195" y="2113915"/>
            <a:ext cx="4577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PPA=Power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（功耗）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+Performance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（性能）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+Area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（面积）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6740" y="54984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参考文献：</a:t>
            </a: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1.https://docs.amd.com/r/2024.1-English/ug1399-vitis-hls/Synthesis-Summary</a:t>
            </a:r>
            <a:b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</a:br>
            <a:r>
              <a:rPr lang="en-US" altLang="zh-CN" sz="12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2.https://arxiv.org/abs/2207.07917</a:t>
            </a:r>
            <a:endParaRPr lang="en-US" altLang="zh-CN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en-US" altLang="zh-CN" sz="12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3168650"/>
            <a:ext cx="1111250" cy="520700"/>
          </a:xfrm>
          <a:prstGeom prst="rect">
            <a:avLst/>
          </a:prstGeom>
        </p:spPr>
      </p:pic>
      <p:sp>
        <p:nvSpPr>
          <p:cNvPr id="70" name="TextBox 52"/>
          <p:cNvSpPr txBox="1"/>
          <p:nvPr/>
        </p:nvSpPr>
        <p:spPr>
          <a:xfrm>
            <a:off x="9904730" y="1018540"/>
            <a:ext cx="1739265" cy="44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rP </a:t>
            </a:r>
            <a:r>
              <a:rPr lang="zh-CN" alt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en-US" sz="2400" b="1" dirty="0">
                <a:solidFill>
                  <a:srgbClr val="9A4937"/>
                </a:solidFill>
                <a:latin typeface="+mn-lt"/>
                <a:ea typeface="+mn-ea"/>
                <a:cs typeface="+mn-cs"/>
              </a:rPr>
              <a:t>≈3.1×</a:t>
            </a:r>
            <a:endParaRPr lang="en-US" sz="2400" b="1" dirty="0">
              <a:solidFill>
                <a:srgbClr val="9A493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184775" y="5250180"/>
            <a:ext cx="42125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dirty="0">
                <a:solidFill>
                  <a:schemeClr val="dk1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Candidate 1 更快，但 LUT≈12×、FF≈22×，且时钟变差，因此 Q_HW从 0.7500 降至 0.5333。</a:t>
            </a:r>
            <a:endParaRPr lang="zh-CN" dirty="0">
              <a:solidFill>
                <a:schemeClr val="dk1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72" name="Group 60"/>
          <p:cNvGrpSpPr/>
          <p:nvPr/>
        </p:nvGrpSpPr>
        <p:grpSpPr>
          <a:xfrm>
            <a:off x="9496425" y="5222875"/>
            <a:ext cx="2375535" cy="1330989"/>
            <a:chOff x="9067800" y="4629150"/>
            <a:chExt cx="2514600" cy="1330955"/>
          </a:xfrm>
        </p:grpSpPr>
        <p:sp>
          <p:nvSpPr>
            <p:cNvPr id="73" name="Line 56"/>
            <p:cNvSpPr/>
            <p:nvPr/>
          </p:nvSpPr>
          <p:spPr>
            <a:xfrm>
              <a:off x="9086850" y="4629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74" name="TextBox 57"/>
            <p:cNvSpPr txBox="1"/>
            <p:nvPr/>
          </p:nvSpPr>
          <p:spPr>
            <a:xfrm>
              <a:off x="9080754" y="4842510"/>
              <a:ext cx="2019483" cy="368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FINAL EVALUATOR SCORE</a:t>
              </a:r>
              <a:endParaRPr lang="en-US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58"/>
            <p:cNvSpPr txBox="1"/>
            <p:nvPr/>
          </p:nvSpPr>
          <p:spPr>
            <a:xfrm>
              <a:off x="9067800" y="5160645"/>
              <a:ext cx="1554089" cy="6000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rPr>
                <a:t>95.72</a:t>
              </a:r>
              <a:endParaRPr lang="en-US" sz="3900" b="1" dirty="0">
                <a:solidFill>
                  <a:srgbClr val="35562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59"/>
            <p:cNvSpPr txBox="1"/>
            <p:nvPr/>
          </p:nvSpPr>
          <p:spPr>
            <a:xfrm>
              <a:off x="9080754" y="5775960"/>
              <a:ext cx="1705948" cy="1841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Candidate 2 promoted</a:t>
              </a:r>
              <a:endParaRPr lang="en-US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7" name="文本框 76"/>
          <p:cNvSpPr txBox="1"/>
          <p:nvPr>
            <p:custDataLst>
              <p:tags r:id="rId3"/>
            </p:custDataLst>
          </p:nvPr>
        </p:nvSpPr>
        <p:spPr>
          <a:xfrm>
            <a:off x="586630" y="1394196"/>
            <a:ext cx="498157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硬件质量如何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计算？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78" name="文本框 77"/>
          <p:cNvSpPr txBox="1"/>
          <p:nvPr>
            <p:custDataLst>
              <p:tags r:id="rId4"/>
            </p:custDataLst>
          </p:nvPr>
        </p:nvSpPr>
        <p:spPr>
          <a:xfrm>
            <a:off x="4754880" y="934085"/>
            <a:ext cx="566991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  <a:sym typeface="+mn-ea"/>
              </a:rPr>
              <a:t>3.1× 延迟改善仍可能是更差的硬件解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5" y="4032885"/>
            <a:ext cx="3348990" cy="1339850"/>
          </a:xfrm>
          <a:prstGeom prst="rect">
            <a:avLst/>
          </a:prstGeom>
        </p:spPr>
      </p:pic>
      <p:grpSp>
        <p:nvGrpSpPr>
          <p:cNvPr id="52" name="Group 50"/>
          <p:cNvGrpSpPr/>
          <p:nvPr/>
        </p:nvGrpSpPr>
        <p:grpSpPr>
          <a:xfrm>
            <a:off x="4810760" y="1441450"/>
            <a:ext cx="6807200" cy="3669665"/>
            <a:chOff x="609600" y="1504950"/>
            <a:chExt cx="8020050" cy="4505325"/>
          </a:xfrm>
        </p:grpSpPr>
        <p:sp>
          <p:nvSpPr>
            <p:cNvPr id="53" name="Rectangle 5"/>
            <p:cNvSpPr/>
            <p:nvPr/>
          </p:nvSpPr>
          <p:spPr>
            <a:xfrm>
              <a:off x="609600" y="1504950"/>
              <a:ext cx="8020050" cy="552450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54" name="Rectangle 6"/>
            <p:cNvSpPr/>
            <p:nvPr/>
          </p:nvSpPr>
          <p:spPr>
            <a:xfrm>
              <a:off x="609600" y="2057400"/>
              <a:ext cx="8020050" cy="657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7"/>
            <p:cNvSpPr/>
            <p:nvPr/>
          </p:nvSpPr>
          <p:spPr>
            <a:xfrm>
              <a:off x="609600" y="2714625"/>
              <a:ext cx="8020050" cy="657225"/>
            </a:xfrm>
            <a:prstGeom prst="rect">
              <a:avLst/>
            </a:prstGeom>
            <a:solidFill>
              <a:srgbClr val="F7F7F3"/>
            </a:solidFill>
            <a:ln>
              <a:noFill/>
            </a:ln>
          </p:spPr>
        </p:sp>
        <p:sp>
          <p:nvSpPr>
            <p:cNvPr id="56" name="Rectangle 8"/>
            <p:cNvSpPr/>
            <p:nvPr/>
          </p:nvSpPr>
          <p:spPr>
            <a:xfrm>
              <a:off x="609600" y="3371850"/>
              <a:ext cx="8020050" cy="657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Rectangle 9"/>
            <p:cNvSpPr/>
            <p:nvPr/>
          </p:nvSpPr>
          <p:spPr>
            <a:xfrm>
              <a:off x="609600" y="4029075"/>
              <a:ext cx="8020050" cy="657225"/>
            </a:xfrm>
            <a:prstGeom prst="rect">
              <a:avLst/>
            </a:prstGeom>
            <a:solidFill>
              <a:srgbClr val="F7F7F3"/>
            </a:solidFill>
            <a:ln>
              <a:noFill/>
            </a:ln>
          </p:spPr>
        </p:sp>
        <p:sp>
          <p:nvSpPr>
            <p:cNvPr id="58" name="Rectangle 10"/>
            <p:cNvSpPr/>
            <p:nvPr/>
          </p:nvSpPr>
          <p:spPr>
            <a:xfrm>
              <a:off x="609600" y="4686300"/>
              <a:ext cx="8020050" cy="6572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Rectangle 11"/>
            <p:cNvSpPr/>
            <p:nvPr/>
          </p:nvSpPr>
          <p:spPr>
            <a:xfrm>
              <a:off x="609600" y="5343525"/>
              <a:ext cx="8020050" cy="657225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60" name="Line 12"/>
            <p:cNvSpPr/>
            <p:nvPr/>
          </p:nvSpPr>
          <p:spPr>
            <a:xfrm>
              <a:off x="2381250" y="150495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1" name="Line 13"/>
            <p:cNvSpPr/>
            <p:nvPr/>
          </p:nvSpPr>
          <p:spPr>
            <a:xfrm>
              <a:off x="4457700" y="150495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2" name="Line 14"/>
            <p:cNvSpPr/>
            <p:nvPr/>
          </p:nvSpPr>
          <p:spPr>
            <a:xfrm>
              <a:off x="6543675" y="1504950"/>
              <a:ext cx="9525" cy="4495800"/>
            </a:xfrm>
            <a:custGeom>
              <a:avLst/>
              <a:gdLst/>
              <a:ahLst/>
              <a:cxnLst/>
              <a:rect l="l" t="t" r="r" b="b"/>
              <a:pathLst>
                <a:path w="9525" h="4495800">
                  <a:moveTo>
                    <a:pt x="0" y="0"/>
                  </a:moveTo>
                  <a:lnTo>
                    <a:pt x="0" y="44958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3" name="Line 15"/>
            <p:cNvSpPr/>
            <p:nvPr/>
          </p:nvSpPr>
          <p:spPr>
            <a:xfrm>
              <a:off x="609600" y="2057400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4" name="Line 16"/>
            <p:cNvSpPr/>
            <p:nvPr/>
          </p:nvSpPr>
          <p:spPr>
            <a:xfrm>
              <a:off x="609600" y="2714625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5" name="Line 17"/>
            <p:cNvSpPr/>
            <p:nvPr/>
          </p:nvSpPr>
          <p:spPr>
            <a:xfrm>
              <a:off x="609600" y="3371850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6" name="Line 18"/>
            <p:cNvSpPr/>
            <p:nvPr/>
          </p:nvSpPr>
          <p:spPr>
            <a:xfrm>
              <a:off x="609600" y="4029075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67" name="Line 19"/>
            <p:cNvSpPr/>
            <p:nvPr/>
          </p:nvSpPr>
          <p:spPr>
            <a:xfrm>
              <a:off x="609600" y="4686300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0" name="Line 20"/>
            <p:cNvSpPr/>
            <p:nvPr/>
          </p:nvSpPr>
          <p:spPr>
            <a:xfrm>
              <a:off x="609600" y="5343525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1" name="Line 21"/>
            <p:cNvSpPr/>
            <p:nvPr/>
          </p:nvSpPr>
          <p:spPr>
            <a:xfrm>
              <a:off x="609600" y="6000750"/>
              <a:ext cx="8020050" cy="9525"/>
            </a:xfrm>
            <a:custGeom>
              <a:avLst/>
              <a:gdLst/>
              <a:ahLst/>
              <a:cxnLst/>
              <a:rect l="l" t="t" r="r" b="b"/>
              <a:pathLst>
                <a:path w="8020050" h="9525">
                  <a:moveTo>
                    <a:pt x="0" y="0"/>
                  </a:moveTo>
                  <a:lnTo>
                    <a:pt x="802005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2" name="TextBox 22"/>
            <p:cNvSpPr txBox="1"/>
            <p:nvPr/>
          </p:nvSpPr>
          <p:spPr>
            <a:xfrm>
              <a:off x="832104" y="1718310"/>
              <a:ext cx="568662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Metric</a:t>
              </a:r>
              <a:endPara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3" name="TextBox 23"/>
            <p:cNvSpPr txBox="1"/>
            <p:nvPr/>
          </p:nvSpPr>
          <p:spPr>
            <a:xfrm>
              <a:off x="2892914" y="1718561"/>
              <a:ext cx="1076572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Baseline b</a:t>
              </a:r>
              <a:endPara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4" name="TextBox 24"/>
            <p:cNvSpPr txBox="1"/>
            <p:nvPr/>
          </p:nvSpPr>
          <p:spPr>
            <a:xfrm>
              <a:off x="4900919" y="1718561"/>
              <a:ext cx="1255377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Candidate 1</a:t>
              </a:r>
              <a:endPara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5" name="TextBox 25"/>
            <p:cNvSpPr txBox="1"/>
            <p:nvPr/>
          </p:nvSpPr>
          <p:spPr>
            <a:xfrm>
              <a:off x="6986730" y="1718561"/>
              <a:ext cx="1255377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Candidate 2</a:t>
              </a:r>
              <a:endPara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6" name="TextBox 26"/>
            <p:cNvSpPr txBox="1"/>
            <p:nvPr/>
          </p:nvSpPr>
          <p:spPr>
            <a:xfrm>
              <a:off x="831850" y="2337435"/>
              <a:ext cx="1054100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Latency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7" name="TextBox 27"/>
            <p:cNvSpPr txBox="1"/>
            <p:nvPr/>
          </p:nvSpPr>
          <p:spPr>
            <a:xfrm>
              <a:off x="3107055" y="2308225"/>
              <a:ext cx="53721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311</a:t>
              </a:r>
              <a:endParaRPr lang="en-US" sz="165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8" name="TextBox 28"/>
            <p:cNvSpPr txBox="1"/>
            <p:nvPr/>
          </p:nvSpPr>
          <p:spPr>
            <a:xfrm>
              <a:off x="5296535" y="2308225"/>
              <a:ext cx="35750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99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9" name="TextBox 29"/>
            <p:cNvSpPr txBox="1"/>
            <p:nvPr/>
          </p:nvSpPr>
          <p:spPr>
            <a:xfrm>
              <a:off x="7318375" y="2308225"/>
              <a:ext cx="52578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102</a:t>
              </a:r>
              <a:endParaRPr lang="en-US" sz="16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0" name="TextBox 30"/>
            <p:cNvSpPr txBox="1"/>
            <p:nvPr/>
          </p:nvSpPr>
          <p:spPr>
            <a:xfrm>
              <a:off x="831850" y="2994660"/>
              <a:ext cx="693420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Clock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1" name="TextBox 31"/>
            <p:cNvSpPr txBox="1"/>
            <p:nvPr/>
          </p:nvSpPr>
          <p:spPr>
            <a:xfrm>
              <a:off x="2838450" y="2964815"/>
              <a:ext cx="125603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1.843 ns</a:t>
              </a:r>
              <a:endParaRPr lang="en-US" sz="165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2" name="TextBox 32"/>
            <p:cNvSpPr txBox="1"/>
            <p:nvPr/>
          </p:nvSpPr>
          <p:spPr>
            <a:xfrm>
              <a:off x="4963795" y="2964815"/>
              <a:ext cx="122999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2.115 ns</a:t>
              </a:r>
              <a:endParaRPr lang="en-US" sz="1650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3" name="TextBox 33"/>
            <p:cNvSpPr txBox="1"/>
            <p:nvPr/>
          </p:nvSpPr>
          <p:spPr>
            <a:xfrm>
              <a:off x="7049770" y="2964815"/>
              <a:ext cx="122999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1.480 ns</a:t>
              </a:r>
              <a:endParaRPr lang="en-US" sz="165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4" name="TextBox 34"/>
            <p:cNvSpPr txBox="1"/>
            <p:nvPr/>
          </p:nvSpPr>
          <p:spPr>
            <a:xfrm>
              <a:off x="831850" y="3651885"/>
              <a:ext cx="483870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LUT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5" name="TextBox 35"/>
            <p:cNvSpPr txBox="1"/>
            <p:nvPr/>
          </p:nvSpPr>
          <p:spPr>
            <a:xfrm>
              <a:off x="3115945" y="3622675"/>
              <a:ext cx="51308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564</a:t>
              </a:r>
              <a:endParaRPr lang="en-US" sz="165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6" name="TextBox 36"/>
            <p:cNvSpPr txBox="1"/>
            <p:nvPr/>
          </p:nvSpPr>
          <p:spPr>
            <a:xfrm>
              <a:off x="5168265" y="3622675"/>
              <a:ext cx="69405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6791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7" name="TextBox 37"/>
            <p:cNvSpPr txBox="1"/>
            <p:nvPr/>
          </p:nvSpPr>
          <p:spPr>
            <a:xfrm>
              <a:off x="7318375" y="3622675"/>
              <a:ext cx="52578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106</a:t>
              </a:r>
              <a:endParaRPr lang="en-US" sz="16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8" name="TextBox 38"/>
            <p:cNvSpPr txBox="1"/>
            <p:nvPr/>
          </p:nvSpPr>
          <p:spPr>
            <a:xfrm>
              <a:off x="831850" y="4309110"/>
              <a:ext cx="328930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FF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9" name="TextBox 39"/>
            <p:cNvSpPr txBox="1"/>
            <p:nvPr/>
          </p:nvSpPr>
          <p:spPr>
            <a:xfrm>
              <a:off x="3115945" y="4279265"/>
              <a:ext cx="51308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110</a:t>
              </a:r>
              <a:endParaRPr lang="en-US" sz="165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0" name="TextBox 40"/>
            <p:cNvSpPr txBox="1"/>
            <p:nvPr/>
          </p:nvSpPr>
          <p:spPr>
            <a:xfrm>
              <a:off x="5168265" y="4279265"/>
              <a:ext cx="69405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2457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1" name="TextBox 41"/>
            <p:cNvSpPr txBox="1"/>
            <p:nvPr/>
          </p:nvSpPr>
          <p:spPr>
            <a:xfrm>
              <a:off x="7382510" y="4279265"/>
              <a:ext cx="35750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18</a:t>
              </a:r>
              <a:endParaRPr lang="en-US" sz="16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2" name="TextBox 42"/>
            <p:cNvSpPr txBox="1"/>
            <p:nvPr/>
          </p:nvSpPr>
          <p:spPr>
            <a:xfrm>
              <a:off x="831850" y="4966335"/>
              <a:ext cx="751205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Q_HW</a:t>
              </a:r>
              <a:endParaRPr lang="en-US" sz="1200" b="1" dirty="0">
                <a:solidFill>
                  <a:srgbClr val="68706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3" name="TextBox 43"/>
            <p:cNvSpPr txBox="1"/>
            <p:nvPr/>
          </p:nvSpPr>
          <p:spPr>
            <a:xfrm>
              <a:off x="2933065" y="4937125"/>
              <a:ext cx="100393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0.7500</a:t>
              </a:r>
              <a:endParaRPr lang="en-US" sz="165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4" name="TextBox 44"/>
            <p:cNvSpPr txBox="1"/>
            <p:nvPr/>
          </p:nvSpPr>
          <p:spPr>
            <a:xfrm>
              <a:off x="5039995" y="4937125"/>
              <a:ext cx="102997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0.5333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5" name="TextBox 45"/>
            <p:cNvSpPr txBox="1"/>
            <p:nvPr/>
          </p:nvSpPr>
          <p:spPr>
            <a:xfrm>
              <a:off x="7125970" y="4937125"/>
              <a:ext cx="102997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0.9586</a:t>
              </a:r>
              <a:endParaRPr lang="en-US" sz="16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6" name="TextBox 46"/>
            <p:cNvSpPr txBox="1"/>
            <p:nvPr/>
          </p:nvSpPr>
          <p:spPr>
            <a:xfrm>
              <a:off x="831850" y="5623560"/>
              <a:ext cx="1066165" cy="2260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Decision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7" name="TextBox 47"/>
            <p:cNvSpPr txBox="1"/>
            <p:nvPr/>
          </p:nvSpPr>
          <p:spPr>
            <a:xfrm>
              <a:off x="2943860" y="5593715"/>
              <a:ext cx="97472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retain</a:t>
              </a:r>
              <a:endParaRPr lang="en-US" sz="165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8" name="TextBox 48"/>
            <p:cNvSpPr txBox="1"/>
            <p:nvPr/>
          </p:nvSpPr>
          <p:spPr>
            <a:xfrm>
              <a:off x="5069205" y="5593715"/>
              <a:ext cx="954405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reject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9" name="TextBox 49"/>
            <p:cNvSpPr txBox="1"/>
            <p:nvPr/>
          </p:nvSpPr>
          <p:spPr>
            <a:xfrm>
              <a:off x="7038340" y="5593715"/>
              <a:ext cx="1259840" cy="3110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promote</a:t>
              </a:r>
              <a:endParaRPr lang="en-US" sz="16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44190" y="230358"/>
            <a:ext cx="8920029" cy="584200"/>
          </a:xfrm>
        </p:spPr>
        <p:txBody>
          <a:bodyPr/>
          <a:lstStyle/>
          <a:p>
            <a:r>
              <a:rPr lang="zh-CN" altLang="en-US" sz="3200" dirty="0">
                <a:solidFill>
                  <a:srgbClr val="385723"/>
                </a:solidFill>
              </a:rPr>
              <a:t>候选先证明“有效”，再证明“优于当前最优”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</p:nvPr>
        </p:nvSpPr>
        <p:spPr>
          <a:xfrm>
            <a:off x="9245600" y="6413502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9ECAFE-A460-4E13-ABCB-32CAE613624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-74645" y="6324752"/>
            <a:ext cx="12266645" cy="544918"/>
            <a:chOff x="0" y="6062868"/>
            <a:chExt cx="12192000" cy="802394"/>
          </a:xfrm>
        </p:grpSpPr>
        <p:sp>
          <p:nvSpPr>
            <p:cNvPr id="41" name="矩形 40"/>
            <p:cNvSpPr/>
            <p:nvPr/>
          </p:nvSpPr>
          <p:spPr>
            <a:xfrm>
              <a:off x="65314" y="6062868"/>
              <a:ext cx="12126686" cy="800477"/>
            </a:xfrm>
            <a:prstGeom prst="rect">
              <a:avLst/>
            </a:prstGeom>
            <a:gradFill flip="none" rotWithShape="1">
              <a:gsLst>
                <a:gs pos="0">
                  <a:srgbClr val="002F66">
                    <a:alpha val="57000"/>
                  </a:srgbClr>
                </a:gs>
                <a:gs pos="44000">
                  <a:srgbClr val="002148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+mn-cs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0" y="6110671"/>
              <a:ext cx="12192000" cy="754591"/>
            </a:xfrm>
            <a:prstGeom prst="rect">
              <a:avLst/>
            </a:prstGeom>
            <a:noFill/>
            <a:ln w="12700"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   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预算不足、门控失败或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QHW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未提升，都不会覆盖当前最佳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；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只有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Promote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才能更新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b。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0740" y="935355"/>
            <a:ext cx="5430520" cy="572135"/>
          </a:xfrm>
          <a:prstGeom prst="rect">
            <a:avLst/>
          </a:prstGeom>
        </p:spPr>
      </p:pic>
      <p:sp>
        <p:nvSpPr>
          <p:cNvPr id="77" name="文本框 76"/>
          <p:cNvSpPr txBox="1"/>
          <p:nvPr>
            <p:custDataLst>
              <p:tags r:id="rId2"/>
            </p:custDataLst>
          </p:nvPr>
        </p:nvSpPr>
        <p:spPr>
          <a:xfrm>
            <a:off x="1767205" y="1394460"/>
            <a:ext cx="8658225" cy="40132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  <a:sym typeface="+mn-ea"/>
              </a:rPr>
              <a:t>晋升条件：候选通过全部适用门控，且 Q_HW 严格优于当前 verified fallback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3"/>
            </p:custDataLst>
          </p:nvPr>
        </p:nvSpPr>
        <p:spPr>
          <a:xfrm>
            <a:off x="8997950" y="3231515"/>
            <a:ext cx="3120390" cy="96393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Budget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决定“是否继续”｜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Validity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决定“能否比较”｜</a:t>
            </a:r>
            <a:endParaRPr lang="zh-CN" altLang="en-US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  <a:p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Q_HW </a:t>
            </a:r>
            <a:r>
              <a:rPr lang="zh-CN" altLang="en-US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决定“能否晋升”</a:t>
            </a:r>
            <a:r>
              <a:rPr lang="en-US" altLang="zh-CN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   |</a:t>
            </a:r>
            <a:endParaRPr lang="en-US" altLang="zh-CN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grpSp>
        <p:nvGrpSpPr>
          <p:cNvPr id="105" name="Group 49"/>
          <p:cNvGrpSpPr/>
          <p:nvPr/>
        </p:nvGrpSpPr>
        <p:grpSpPr>
          <a:xfrm>
            <a:off x="784225" y="2076450"/>
            <a:ext cx="7272020" cy="3586480"/>
            <a:chOff x="5099304" y="1565910"/>
            <a:chExt cx="6494374" cy="3082290"/>
          </a:xfrm>
        </p:grpSpPr>
        <p:sp>
          <p:nvSpPr>
            <p:cNvPr id="106" name="TextBox 12"/>
            <p:cNvSpPr txBox="1"/>
            <p:nvPr/>
          </p:nvSpPr>
          <p:spPr>
            <a:xfrm>
              <a:off x="5099304" y="1565910"/>
              <a:ext cx="1195060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DECISION TREE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7" name="Polygon 13"/>
            <p:cNvSpPr/>
            <p:nvPr/>
          </p:nvSpPr>
          <p:spPr>
            <a:xfrm>
              <a:off x="5200650" y="207645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361950" y="0"/>
                  </a:moveTo>
                  <a:lnTo>
                    <a:pt x="723900" y="361950"/>
                  </a:lnTo>
                  <a:lnTo>
                    <a:pt x="361950" y="72390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F4C400"/>
            </a:solidFill>
            <a:ln w="19050">
              <a:solidFill>
                <a:srgbClr val="445437"/>
              </a:solidFill>
            </a:ln>
          </p:spPr>
        </p:sp>
        <p:sp>
          <p:nvSpPr>
            <p:cNvPr id="108" name="TextBox 14"/>
            <p:cNvSpPr txBox="1"/>
            <p:nvPr/>
          </p:nvSpPr>
          <p:spPr>
            <a:xfrm>
              <a:off x="5326926" y="2285524"/>
              <a:ext cx="471348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E24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Budget</a:t>
              </a:r>
              <a:endParaRPr lang="en-US" sz="980" b="1" dirty="0">
                <a:solidFill>
                  <a:srgbClr val="1E24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9" name="TextBox 15"/>
            <p:cNvSpPr txBox="1"/>
            <p:nvPr/>
          </p:nvSpPr>
          <p:spPr>
            <a:xfrm>
              <a:off x="5343265" y="2466499"/>
              <a:ext cx="438671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admit?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0" name="Line 16"/>
            <p:cNvSpPr/>
            <p:nvPr/>
          </p:nvSpPr>
          <p:spPr>
            <a:xfrm>
              <a:off x="5924550" y="2438400"/>
              <a:ext cx="114300" cy="1"/>
            </a:xfrm>
            <a:prstGeom prst="line">
              <a:avLst/>
            </a:pr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111" name="TextBox 17"/>
            <p:cNvSpPr txBox="1"/>
            <p:nvPr/>
          </p:nvSpPr>
          <p:spPr>
            <a:xfrm>
              <a:off x="5853557" y="2199799"/>
              <a:ext cx="238471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yes</a:t>
              </a:r>
              <a:endPara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2" name="Rectangle 18"/>
            <p:cNvSpPr/>
            <p:nvPr/>
          </p:nvSpPr>
          <p:spPr>
            <a:xfrm>
              <a:off x="6076950" y="2190750"/>
              <a:ext cx="1066800" cy="495300"/>
            </a:xfrm>
            <a:prstGeom prst="rect">
              <a:avLst/>
            </a:prstGeom>
            <a:solidFill>
              <a:srgbClr val="EEF2EA"/>
            </a:solidFill>
            <a:ln w="19050">
              <a:solidFill>
                <a:srgbClr val="445437"/>
              </a:solidFill>
            </a:ln>
          </p:spPr>
        </p:sp>
        <p:sp>
          <p:nvSpPr>
            <p:cNvPr id="113" name="TextBox 19"/>
            <p:cNvSpPr txBox="1"/>
            <p:nvPr/>
          </p:nvSpPr>
          <p:spPr>
            <a:xfrm>
              <a:off x="6133555" y="2375535"/>
              <a:ext cx="953590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candidate c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4" name="Line 20"/>
            <p:cNvSpPr/>
            <p:nvPr/>
          </p:nvSpPr>
          <p:spPr>
            <a:xfrm>
              <a:off x="7143750" y="2438400"/>
              <a:ext cx="9525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115" name="Polygon 21"/>
            <p:cNvSpPr/>
            <p:nvPr/>
          </p:nvSpPr>
          <p:spPr>
            <a:xfrm>
              <a:off x="7239000" y="194310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495300" y="0"/>
                  </a:moveTo>
                  <a:lnTo>
                    <a:pt x="990600" y="495300"/>
                  </a:lnTo>
                  <a:lnTo>
                    <a:pt x="495300" y="9906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116" name="TextBox 22"/>
            <p:cNvSpPr txBox="1"/>
            <p:nvPr/>
          </p:nvSpPr>
          <p:spPr>
            <a:xfrm>
              <a:off x="7536340" y="2261235"/>
              <a:ext cx="395920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445437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V(c)</a:t>
              </a:r>
              <a:endParaRPr lang="en-US" sz="1200" b="1" dirty="0">
                <a:solidFill>
                  <a:srgbClr val="445437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7" name="TextBox 23"/>
            <p:cNvSpPr txBox="1"/>
            <p:nvPr/>
          </p:nvSpPr>
          <p:spPr>
            <a:xfrm>
              <a:off x="7416019" y="2485549"/>
              <a:ext cx="636562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all gates?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8" name="Freeform 24"/>
            <p:cNvSpPr/>
            <p:nvPr/>
          </p:nvSpPr>
          <p:spPr>
            <a:xfrm>
              <a:off x="7734300" y="1809750"/>
              <a:ext cx="2171700" cy="304800"/>
            </a:xfrm>
            <a:custGeom>
              <a:avLst/>
              <a:gdLst/>
              <a:ahLst/>
              <a:cxnLst/>
              <a:rect l="l" t="t" r="r" b="b"/>
              <a:pathLst>
                <a:path w="2171700" h="304800">
                  <a:moveTo>
                    <a:pt x="0" y="133350"/>
                  </a:moveTo>
                  <a:lnTo>
                    <a:pt x="0" y="0"/>
                  </a:lnTo>
                  <a:lnTo>
                    <a:pt x="2171700" y="0"/>
                  </a:lnTo>
                  <a:lnTo>
                    <a:pt x="2171700" y="304800"/>
                  </a:lnTo>
                </a:path>
              </a:pathLst>
            </a:custGeom>
            <a:noFill/>
            <a:ln w="19050">
              <a:solidFill>
                <a:srgbClr val="9A4937"/>
              </a:solidFill>
              <a:tailEnd type="triangle" w="lg" len="lg"/>
            </a:ln>
          </p:spPr>
        </p:sp>
        <p:sp>
          <p:nvSpPr>
            <p:cNvPr id="119" name="TextBox 25"/>
            <p:cNvSpPr txBox="1"/>
            <p:nvPr/>
          </p:nvSpPr>
          <p:spPr>
            <a:xfrm>
              <a:off x="8453247" y="1609249"/>
              <a:ext cx="251408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V=0</a:t>
              </a:r>
              <a:endParaRPr lang="en-US" sz="98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0" name="Rectangle 26"/>
            <p:cNvSpPr/>
            <p:nvPr/>
          </p:nvSpPr>
          <p:spPr>
            <a:xfrm>
              <a:off x="8420100" y="2152650"/>
              <a:ext cx="3162300" cy="685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A4937"/>
              </a:solidFill>
            </a:ln>
          </p:spPr>
        </p:sp>
        <p:sp>
          <p:nvSpPr>
            <p:cNvPr id="121" name="TextBox 27"/>
            <p:cNvSpPr txBox="1"/>
            <p:nvPr/>
          </p:nvSpPr>
          <p:spPr>
            <a:xfrm>
              <a:off x="8640318" y="2250758"/>
              <a:ext cx="1894259" cy="217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reject candidate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2" name="TextBox 28"/>
            <p:cNvSpPr txBox="1"/>
            <p:nvPr/>
          </p:nvSpPr>
          <p:spPr>
            <a:xfrm>
              <a:off x="8642604" y="2556510"/>
              <a:ext cx="2303921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Score=0 · baseline unchanged</a:t>
              </a:r>
              <a:endParaRPr lang="en-US" sz="120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3" name="Freeform 29"/>
            <p:cNvSpPr/>
            <p:nvPr/>
          </p:nvSpPr>
          <p:spPr>
            <a:xfrm>
              <a:off x="7734300" y="2933700"/>
              <a:ext cx="400050" cy="381000"/>
            </a:xfrm>
            <a:custGeom>
              <a:avLst/>
              <a:gdLst/>
              <a:ahLst/>
              <a:cxnLst/>
              <a:rect l="l" t="t" r="r" b="b"/>
              <a:pathLst>
                <a:path w="400050" h="381000">
                  <a:moveTo>
                    <a:pt x="0" y="0"/>
                  </a:moveTo>
                  <a:lnTo>
                    <a:pt x="0" y="381000"/>
                  </a:lnTo>
                  <a:lnTo>
                    <a:pt x="400050" y="381000"/>
                  </a:lnTo>
                </a:path>
              </a:pathLst>
            </a:cu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124" name="TextBox 30"/>
            <p:cNvSpPr txBox="1"/>
            <p:nvPr/>
          </p:nvSpPr>
          <p:spPr>
            <a:xfrm>
              <a:off x="7862697" y="3104674"/>
              <a:ext cx="251408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V=1</a:t>
              </a:r>
              <a:endPara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5" name="Polygon 31"/>
            <p:cNvSpPr/>
            <p:nvPr/>
          </p:nvSpPr>
          <p:spPr>
            <a:xfrm>
              <a:off x="8134350" y="27813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533400" y="0"/>
                  </a:moveTo>
                  <a:lnTo>
                    <a:pt x="1066800" y="533400"/>
                  </a:lnTo>
                  <a:lnTo>
                    <a:pt x="533400" y="10668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EEF2EA"/>
            </a:solidFill>
            <a:ln w="19050">
              <a:solidFill>
                <a:srgbClr val="35562A"/>
              </a:solidFill>
            </a:ln>
          </p:spPr>
        </p:sp>
        <p:sp>
          <p:nvSpPr>
            <p:cNvPr id="126" name="TextBox 32"/>
            <p:cNvSpPr txBox="1"/>
            <p:nvPr/>
          </p:nvSpPr>
          <p:spPr>
            <a:xfrm>
              <a:off x="8285907" y="3137535"/>
              <a:ext cx="763686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5562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Q_HW(c)</a:t>
              </a:r>
              <a:endParaRPr lang="en-US" sz="1200" b="1" dirty="0">
                <a:solidFill>
                  <a:srgbClr val="35562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7" name="TextBox 33"/>
            <p:cNvSpPr txBox="1"/>
            <p:nvPr/>
          </p:nvSpPr>
          <p:spPr>
            <a:xfrm>
              <a:off x="8274280" y="3361849"/>
              <a:ext cx="786941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5562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&gt; Q_HW(b)?</a:t>
              </a:r>
              <a:endParaRPr lang="en-US" sz="980" dirty="0">
                <a:solidFill>
                  <a:srgbClr val="35562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8" name="Line 34"/>
            <p:cNvSpPr/>
            <p:nvPr/>
          </p:nvSpPr>
          <p:spPr>
            <a:xfrm>
              <a:off x="9201150" y="3314700"/>
              <a:ext cx="76200" cy="1"/>
            </a:xfrm>
            <a:prstGeom prst="line">
              <a:avLst/>
            </a:prstGeom>
            <a:noFill/>
            <a:ln w="19050">
              <a:solidFill>
                <a:srgbClr val="9A4937"/>
              </a:solidFill>
              <a:tailEnd type="triangle" w="lg" len="lg"/>
            </a:ln>
          </p:spPr>
        </p:sp>
        <p:sp>
          <p:nvSpPr>
            <p:cNvPr id="129" name="TextBox 35"/>
            <p:cNvSpPr txBox="1"/>
            <p:nvPr/>
          </p:nvSpPr>
          <p:spPr>
            <a:xfrm>
              <a:off x="9145397" y="3095149"/>
              <a:ext cx="155026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no</a:t>
              </a:r>
              <a:endParaRPr lang="en-US" sz="980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0" name="Rectangle 36"/>
            <p:cNvSpPr/>
            <p:nvPr/>
          </p:nvSpPr>
          <p:spPr>
            <a:xfrm>
              <a:off x="9315450" y="2914650"/>
              <a:ext cx="2266950" cy="666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A4937"/>
              </a:solidFill>
            </a:ln>
          </p:spPr>
        </p:sp>
        <p:sp>
          <p:nvSpPr>
            <p:cNvPr id="131" name="TextBox 37"/>
            <p:cNvSpPr txBox="1"/>
            <p:nvPr/>
          </p:nvSpPr>
          <p:spPr>
            <a:xfrm>
              <a:off x="9535668" y="3012758"/>
              <a:ext cx="1707675" cy="217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retain baseline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2" name="TextBox 38"/>
            <p:cNvSpPr txBox="1"/>
            <p:nvPr/>
          </p:nvSpPr>
          <p:spPr>
            <a:xfrm>
              <a:off x="9537954" y="3318510"/>
              <a:ext cx="2055724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measured, but not better</a:t>
              </a:r>
              <a:endParaRPr lang="en-US" sz="120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3" name="Freeform 39"/>
            <p:cNvSpPr/>
            <p:nvPr/>
          </p:nvSpPr>
          <p:spPr>
            <a:xfrm>
              <a:off x="8667750" y="3848100"/>
              <a:ext cx="609600" cy="361950"/>
            </a:xfrm>
            <a:custGeom>
              <a:avLst/>
              <a:gdLst/>
              <a:ahLst/>
              <a:cxnLst/>
              <a:rect l="l" t="t" r="r" b="b"/>
              <a:pathLst>
                <a:path w="609600" h="361950">
                  <a:moveTo>
                    <a:pt x="0" y="0"/>
                  </a:moveTo>
                  <a:lnTo>
                    <a:pt x="0" y="361950"/>
                  </a:lnTo>
                  <a:lnTo>
                    <a:pt x="609600" y="361950"/>
                  </a:lnTo>
                </a:path>
              </a:pathLst>
            </a:cu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134" name="TextBox 40"/>
            <p:cNvSpPr txBox="1"/>
            <p:nvPr/>
          </p:nvSpPr>
          <p:spPr>
            <a:xfrm>
              <a:off x="8815197" y="4000024"/>
              <a:ext cx="227587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yes</a:t>
              </a:r>
              <a:endParaRPr lang="en-US" sz="98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5" name="Rectangle 41"/>
            <p:cNvSpPr/>
            <p:nvPr/>
          </p:nvSpPr>
          <p:spPr>
            <a:xfrm>
              <a:off x="9315450" y="3905250"/>
              <a:ext cx="2266950" cy="685800"/>
            </a:xfrm>
            <a:prstGeom prst="rect">
              <a:avLst/>
            </a:prstGeom>
            <a:solidFill>
              <a:srgbClr val="35562A"/>
            </a:solidFill>
            <a:ln>
              <a:noFill/>
            </a:ln>
          </p:spPr>
        </p:sp>
        <p:sp>
          <p:nvSpPr>
            <p:cNvPr id="136" name="TextBox 42"/>
            <p:cNvSpPr txBox="1"/>
            <p:nvPr/>
          </p:nvSpPr>
          <p:spPr>
            <a:xfrm>
              <a:off x="9535668" y="4012882"/>
              <a:ext cx="1556076" cy="2177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promote c → b</a:t>
              </a:r>
              <a:endParaRPr lang="en-US" sz="165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7" name="TextBox 43"/>
            <p:cNvSpPr txBox="1"/>
            <p:nvPr/>
          </p:nvSpPr>
          <p:spPr>
            <a:xfrm>
              <a:off x="9537954" y="4318635"/>
              <a:ext cx="1991106" cy="1582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verified fallback updated</a:t>
              </a:r>
              <a:endParaRPr lang="en-US" sz="120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8" name="Freeform 44"/>
            <p:cNvSpPr/>
            <p:nvPr/>
          </p:nvSpPr>
          <p:spPr>
            <a:xfrm>
              <a:off x="5562600" y="2800350"/>
              <a:ext cx="552450" cy="1257300"/>
            </a:xfrm>
            <a:custGeom>
              <a:avLst/>
              <a:gdLst/>
              <a:ahLst/>
              <a:cxnLst/>
              <a:rect l="l" t="t" r="r" b="b"/>
              <a:pathLst>
                <a:path w="552450" h="1257300">
                  <a:moveTo>
                    <a:pt x="0" y="0"/>
                  </a:moveTo>
                  <a:lnTo>
                    <a:pt x="0" y="1028700"/>
                  </a:lnTo>
                  <a:lnTo>
                    <a:pt x="552450" y="1028700"/>
                  </a:lnTo>
                  <a:lnTo>
                    <a:pt x="552450" y="1257300"/>
                  </a:lnTo>
                </a:path>
              </a:pathLst>
            </a:custGeom>
            <a:noFill/>
            <a:ln w="19050">
              <a:solidFill>
                <a:srgbClr val="9A4937"/>
              </a:solidFill>
              <a:tailEnd type="triangle" w="lg" len="lg"/>
            </a:ln>
          </p:spPr>
        </p:sp>
        <p:sp>
          <p:nvSpPr>
            <p:cNvPr id="139" name="TextBox 45"/>
            <p:cNvSpPr txBox="1"/>
            <p:nvPr/>
          </p:nvSpPr>
          <p:spPr>
            <a:xfrm>
              <a:off x="5690997" y="3609499"/>
              <a:ext cx="1672194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no · insufficient credits</a:t>
              </a:r>
              <a:endParaRPr lang="en-US" sz="98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40" name="Rectangle 46"/>
            <p:cNvSpPr/>
            <p:nvPr/>
          </p:nvSpPr>
          <p:spPr>
            <a:xfrm>
              <a:off x="5105400" y="4095750"/>
              <a:ext cx="2076450" cy="552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141" name="TextBox 47"/>
            <p:cNvSpPr txBox="1"/>
            <p:nvPr/>
          </p:nvSpPr>
          <p:spPr>
            <a:xfrm>
              <a:off x="5327142" y="4178618"/>
              <a:ext cx="1120494" cy="1784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4454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stop search</a:t>
              </a:r>
              <a:endParaRPr lang="en-US" sz="1350" b="1" dirty="0">
                <a:solidFill>
                  <a:srgbClr val="4454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42" name="TextBox 48"/>
            <p:cNvSpPr txBox="1"/>
            <p:nvPr/>
          </p:nvSpPr>
          <p:spPr>
            <a:xfrm>
              <a:off x="5329047" y="4428649"/>
              <a:ext cx="1949242" cy="1293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emit current verified fallback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44190" y="239689"/>
            <a:ext cx="8920029" cy="584200"/>
          </a:xfrm>
        </p:spPr>
        <p:txBody>
          <a:bodyPr/>
          <a:lstStyle/>
          <a:p>
            <a:r>
              <a:rPr lang="en-US" altLang="zh-CN" sz="3200" dirty="0">
                <a:solidFill>
                  <a:srgbClr val="385723"/>
                </a:solidFill>
              </a:rPr>
              <a:t>Verified-Candidate Loop（VCL）</a:t>
            </a:r>
            <a:r>
              <a:rPr lang="zh-CN" altLang="en-US" sz="3200" dirty="0">
                <a:solidFill>
                  <a:srgbClr val="385723"/>
                </a:solidFill>
              </a:rPr>
              <a:t>工作流</a:t>
            </a:r>
            <a:endParaRPr lang="zh-CN" altLang="en-US" sz="3200" dirty="0">
              <a:solidFill>
                <a:srgbClr val="385723"/>
              </a:solidFill>
            </a:endParaRPr>
          </a:p>
        </p:txBody>
      </p:sp>
      <p:grpSp>
        <p:nvGrpSpPr>
          <p:cNvPr id="151" name="组合 150"/>
          <p:cNvGrpSpPr/>
          <p:nvPr/>
        </p:nvGrpSpPr>
        <p:grpSpPr>
          <a:xfrm>
            <a:off x="-75280" y="6095517"/>
            <a:ext cx="12266930" cy="772795"/>
            <a:chOff x="-631" y="5725319"/>
            <a:chExt cx="12192283" cy="1137944"/>
          </a:xfrm>
        </p:grpSpPr>
        <p:sp>
          <p:nvSpPr>
            <p:cNvPr id="152" name="矩形 151"/>
            <p:cNvSpPr/>
            <p:nvPr/>
          </p:nvSpPr>
          <p:spPr>
            <a:xfrm>
              <a:off x="65007" y="5725319"/>
              <a:ext cx="12126645" cy="1137944"/>
            </a:xfrm>
            <a:prstGeom prst="rect">
              <a:avLst/>
            </a:prstGeom>
            <a:gradFill flip="none" rotWithShape="1">
              <a:gsLst>
                <a:gs pos="0">
                  <a:srgbClr val="002F66">
                    <a:alpha val="57000"/>
                  </a:srgbClr>
                </a:gs>
                <a:gs pos="44000">
                  <a:srgbClr val="002148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+mn-cs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-631" y="5917118"/>
              <a:ext cx="12192000" cy="754591"/>
            </a:xfrm>
            <a:prstGeom prst="rect">
              <a:avLst/>
            </a:prstGeom>
            <a:noFill/>
            <a:ln w="12700"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Agent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在预算约束下生成候选，通过完整验证与 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QHW </a:t>
              </a: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/>
                  <a:ea typeface="微软雅黑" panose="020B0503020204020204" charset="-122"/>
                </a:rPr>
                <a:t>比较决定是否更新最优结果，并将失败证据反馈至下一轮优化。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232" name="Group 32"/>
          <p:cNvGrpSpPr/>
          <p:nvPr/>
        </p:nvGrpSpPr>
        <p:grpSpPr>
          <a:xfrm>
            <a:off x="603504" y="1136015"/>
            <a:ext cx="10978896" cy="1453515"/>
            <a:chOff x="603504" y="1499235"/>
            <a:chExt cx="10978896" cy="1453515"/>
          </a:xfrm>
        </p:grpSpPr>
        <p:sp>
          <p:nvSpPr>
            <p:cNvPr id="233" name="TextBox 5"/>
            <p:cNvSpPr txBox="1"/>
            <p:nvPr/>
          </p:nvSpPr>
          <p:spPr>
            <a:xfrm>
              <a:off x="603504" y="1499235"/>
              <a:ext cx="6526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MEASURED EVIDENCE CONTROLS PROMOTION AND THE NEXT OPTIMIZATION ROUND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4" name="Line 6"/>
            <p:cNvSpPr/>
            <p:nvPr/>
          </p:nvSpPr>
          <p:spPr>
            <a:xfrm>
              <a:off x="609600" y="1838325"/>
              <a:ext cx="3105150" cy="9525"/>
            </a:xfrm>
            <a:custGeom>
              <a:avLst/>
              <a:gdLst/>
              <a:ahLst/>
              <a:cxnLst/>
              <a:rect l="l" t="t" r="r" b="b"/>
              <a:pathLst>
                <a:path w="3105150" h="9525">
                  <a:moveTo>
                    <a:pt x="0" y="0"/>
                  </a:moveTo>
                  <a:lnTo>
                    <a:pt x="310515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235" name="TextBox 7"/>
            <p:cNvSpPr txBox="1"/>
            <p:nvPr/>
          </p:nvSpPr>
          <p:spPr>
            <a:xfrm>
              <a:off x="604647" y="1923574"/>
              <a:ext cx="146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CANDIDATE GENERATION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6" name="Line 8"/>
            <p:cNvSpPr/>
            <p:nvPr/>
          </p:nvSpPr>
          <p:spPr>
            <a:xfrm>
              <a:off x="3905250" y="1838325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237" name="TextBox 9"/>
            <p:cNvSpPr txBox="1"/>
            <p:nvPr/>
          </p:nvSpPr>
          <p:spPr>
            <a:xfrm>
              <a:off x="3900297" y="1923574"/>
              <a:ext cx="1445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COMPLETE VALIDATION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38" name="Line 10"/>
            <p:cNvSpPr/>
            <p:nvPr/>
          </p:nvSpPr>
          <p:spPr>
            <a:xfrm>
              <a:off x="7124700" y="1838325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239" name="TextBox 11"/>
            <p:cNvSpPr txBox="1"/>
            <p:nvPr/>
          </p:nvSpPr>
          <p:spPr>
            <a:xfrm>
              <a:off x="6784467" y="1848009"/>
              <a:ext cx="1773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ROLE-SPECIFIC PROMOTION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0" name="Polygon 12"/>
            <p:cNvSpPr/>
            <p:nvPr/>
          </p:nvSpPr>
          <p:spPr>
            <a:xfrm>
              <a:off x="609600" y="2286000"/>
              <a:ext cx="1009650" cy="533400"/>
            </a:xfrm>
            <a:custGeom>
              <a:avLst/>
              <a:gdLst/>
              <a:ahLst/>
              <a:cxnLst/>
              <a:rect l="l" t="t" r="r" b="b"/>
              <a:pathLst>
                <a:path w="1009650" h="533400">
                  <a:moveTo>
                    <a:pt x="0" y="0"/>
                  </a:moveTo>
                  <a:lnTo>
                    <a:pt x="857250" y="0"/>
                  </a:lnTo>
                  <a:lnTo>
                    <a:pt x="1009650" y="266700"/>
                  </a:lnTo>
                  <a:lnTo>
                    <a:pt x="857250" y="533400"/>
                  </a:lnTo>
                  <a:lnTo>
                    <a:pt x="0" y="533400"/>
                  </a:lnTo>
                  <a:lnTo>
                    <a:pt x="152400" y="2667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241" name="TextBox 13"/>
            <p:cNvSpPr txBox="1"/>
            <p:nvPr/>
          </p:nvSpPr>
          <p:spPr>
            <a:xfrm>
              <a:off x="919105" y="2375535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Task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2" name="TextBox 14"/>
            <p:cNvSpPr txBox="1"/>
            <p:nvPr/>
          </p:nvSpPr>
          <p:spPr>
            <a:xfrm>
              <a:off x="799442" y="2599849"/>
              <a:ext cx="6299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+ starter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3" name="Rectangle 15"/>
            <p:cNvSpPr/>
            <p:nvPr/>
          </p:nvSpPr>
          <p:spPr>
            <a:xfrm>
              <a:off x="1809750" y="2247900"/>
              <a:ext cx="1181100" cy="609600"/>
            </a:xfrm>
            <a:prstGeom prst="rect">
              <a:avLst/>
            </a:prstGeom>
            <a:solidFill>
              <a:srgbClr val="EEF2EA"/>
            </a:solidFill>
            <a:ln w="19050">
              <a:solidFill>
                <a:srgbClr val="445437"/>
              </a:solidFill>
            </a:ln>
          </p:spPr>
        </p:sp>
        <p:sp>
          <p:nvSpPr>
            <p:cNvPr id="244" name="TextBox 16"/>
            <p:cNvSpPr txBox="1"/>
            <p:nvPr/>
          </p:nvSpPr>
          <p:spPr>
            <a:xfrm>
              <a:off x="2228423" y="235648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LLM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5" name="TextBox 17"/>
            <p:cNvSpPr txBox="1"/>
            <p:nvPr/>
          </p:nvSpPr>
          <p:spPr>
            <a:xfrm>
              <a:off x="1699429" y="2590324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full-source candidate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6" name="Polygon 18"/>
            <p:cNvSpPr/>
            <p:nvPr/>
          </p:nvSpPr>
          <p:spPr>
            <a:xfrm>
              <a:off x="3009900" y="215265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800100" y="400050"/>
                  </a:lnTo>
                  <a:lnTo>
                    <a:pt x="400050" y="80010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4C400"/>
            </a:solidFill>
            <a:ln w="19050">
              <a:solidFill>
                <a:srgbClr val="445437"/>
              </a:solidFill>
            </a:ln>
          </p:spPr>
        </p:sp>
        <p:sp>
          <p:nvSpPr>
            <p:cNvPr id="247" name="TextBox 19"/>
            <p:cNvSpPr txBox="1"/>
            <p:nvPr/>
          </p:nvSpPr>
          <p:spPr>
            <a:xfrm>
              <a:off x="3174276" y="239982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Budget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8" name="TextBox 20"/>
            <p:cNvSpPr txBox="1"/>
            <p:nvPr/>
          </p:nvSpPr>
          <p:spPr>
            <a:xfrm>
              <a:off x="3190615" y="2561749"/>
              <a:ext cx="438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admit?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9" name="Line 21"/>
            <p:cNvSpPr/>
            <p:nvPr/>
          </p:nvSpPr>
          <p:spPr>
            <a:xfrm>
              <a:off x="1619250" y="2552700"/>
              <a:ext cx="15240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50" name="Line 22"/>
            <p:cNvSpPr/>
            <p:nvPr/>
          </p:nvSpPr>
          <p:spPr>
            <a:xfrm>
              <a:off x="2990850" y="2552700"/>
              <a:ext cx="1905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51" name="Line 23"/>
            <p:cNvSpPr/>
            <p:nvPr/>
          </p:nvSpPr>
          <p:spPr>
            <a:xfrm>
              <a:off x="3810000" y="2552700"/>
              <a:ext cx="13335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52" name="Rectangle 24"/>
            <p:cNvSpPr/>
            <p:nvPr/>
          </p:nvSpPr>
          <p:spPr>
            <a:xfrm>
              <a:off x="3962400" y="2152650"/>
              <a:ext cx="2952750" cy="8001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253" name="Rectangle 25"/>
            <p:cNvSpPr/>
            <p:nvPr/>
          </p:nvSpPr>
          <p:spPr>
            <a:xfrm>
              <a:off x="3962400" y="2152650"/>
              <a:ext cx="76200" cy="800100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254" name="TextBox 26"/>
            <p:cNvSpPr txBox="1"/>
            <p:nvPr/>
          </p:nvSpPr>
          <p:spPr>
            <a:xfrm>
              <a:off x="4165854" y="2261235"/>
              <a:ext cx="246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All applicable gates must pass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55" name="TextBox 27"/>
            <p:cNvSpPr txBox="1"/>
            <p:nvPr/>
          </p:nvSpPr>
          <p:spPr>
            <a:xfrm>
              <a:off x="4166997" y="2460784"/>
              <a:ext cx="2617343" cy="390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75"/>
                </a:lnSpc>
              </a:pPr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Interface → CSim → Synth → target gates </a:t>
              </a:r>
              <a:r>
                <a:rPr lang="zh-CN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CoSim（if required）→ metric completeness</a:t>
              </a:r>
              <a:endParaRPr lang="zh-CN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56" name="Line 28"/>
            <p:cNvSpPr/>
            <p:nvPr/>
          </p:nvSpPr>
          <p:spPr>
            <a:xfrm>
              <a:off x="6915150" y="2552700"/>
              <a:ext cx="11430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57" name="Polygon 29"/>
            <p:cNvSpPr/>
            <p:nvPr/>
          </p:nvSpPr>
          <p:spPr>
            <a:xfrm>
              <a:off x="7029450" y="215265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400050" y="0"/>
                  </a:moveTo>
                  <a:lnTo>
                    <a:pt x="800100" y="400050"/>
                  </a:lnTo>
                  <a:lnTo>
                    <a:pt x="400050" y="80010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258" name="TextBox 30"/>
            <p:cNvSpPr txBox="1"/>
            <p:nvPr/>
          </p:nvSpPr>
          <p:spPr>
            <a:xfrm>
              <a:off x="7096968" y="2399824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Candidate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59" name="TextBox 31"/>
            <p:cNvSpPr txBox="1"/>
            <p:nvPr/>
          </p:nvSpPr>
          <p:spPr>
            <a:xfrm>
              <a:off x="7259638" y="2561749"/>
              <a:ext cx="339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role?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60" name="Group 58"/>
          <p:cNvGrpSpPr/>
          <p:nvPr/>
        </p:nvGrpSpPr>
        <p:grpSpPr>
          <a:xfrm>
            <a:off x="7029577" y="1294289"/>
            <a:ext cx="4438523" cy="2704941"/>
            <a:chOff x="7029577" y="1657509"/>
            <a:chExt cx="4438523" cy="2704941"/>
          </a:xfrm>
        </p:grpSpPr>
        <p:sp>
          <p:nvSpPr>
            <p:cNvPr id="261" name="Freeform 33"/>
            <p:cNvSpPr/>
            <p:nvPr/>
          </p:nvSpPr>
          <p:spPr>
            <a:xfrm>
              <a:off x="7429500" y="2095500"/>
              <a:ext cx="514350" cy="57150"/>
            </a:xfrm>
            <a:custGeom>
              <a:avLst/>
              <a:gdLst/>
              <a:ahLst/>
              <a:cxnLst/>
              <a:rect l="l" t="t" r="r" b="b"/>
              <a:pathLst>
                <a:path w="514350" h="57150">
                  <a:moveTo>
                    <a:pt x="0" y="57150"/>
                  </a:moveTo>
                  <a:lnTo>
                    <a:pt x="0" y="0"/>
                  </a:lnTo>
                  <a:lnTo>
                    <a:pt x="514350" y="0"/>
                  </a:lnTo>
                </a:path>
              </a:pathLst>
            </a:cu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262" name="TextBox 34"/>
            <p:cNvSpPr txBox="1"/>
            <p:nvPr/>
          </p:nvSpPr>
          <p:spPr>
            <a:xfrm>
              <a:off x="7029577" y="1657509"/>
              <a:ext cx="12962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validity restoration</a:t>
              </a:r>
              <a:endParaRPr lang="en-US" sz="98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63" name="Rectangle 35"/>
            <p:cNvSpPr/>
            <p:nvPr/>
          </p:nvSpPr>
          <p:spPr>
            <a:xfrm>
              <a:off x="7982077" y="2114709"/>
              <a:ext cx="1428750" cy="285115"/>
            </a:xfrm>
            <a:prstGeom prst="rect">
              <a:avLst/>
            </a:prstGeom>
            <a:solidFill>
              <a:srgbClr val="EEF2EA"/>
            </a:solidFill>
            <a:ln w="19050">
              <a:solidFill>
                <a:srgbClr val="35562A"/>
              </a:solidFill>
            </a:ln>
          </p:spPr>
        </p:sp>
        <p:sp>
          <p:nvSpPr>
            <p:cNvPr id="264" name="TextBox 36"/>
            <p:cNvSpPr txBox="1"/>
            <p:nvPr/>
          </p:nvSpPr>
          <p:spPr>
            <a:xfrm>
              <a:off x="8072247" y="2175034"/>
              <a:ext cx="1232535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Repair / Structural </a:t>
              </a:r>
              <a:endPara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65" name="Line 37"/>
            <p:cNvSpPr/>
            <p:nvPr/>
          </p:nvSpPr>
          <p:spPr>
            <a:xfrm>
              <a:off x="9410700" y="2249805"/>
              <a:ext cx="723900" cy="1"/>
            </a:xfrm>
            <a:prstGeom prst="line">
              <a:avLst/>
            </a:pr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266" name="TextBox 38"/>
            <p:cNvSpPr txBox="1"/>
            <p:nvPr/>
          </p:nvSpPr>
          <p:spPr>
            <a:xfrm>
              <a:off x="9483683" y="2030254"/>
              <a:ext cx="596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establish</a:t>
              </a:r>
              <a:endParaRPr lang="en-US" sz="98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67" name="Rectangle 39"/>
            <p:cNvSpPr/>
            <p:nvPr/>
          </p:nvSpPr>
          <p:spPr>
            <a:xfrm>
              <a:off x="10172700" y="2190750"/>
              <a:ext cx="1295400" cy="552450"/>
            </a:xfrm>
            <a:prstGeom prst="rect">
              <a:avLst/>
            </a:prstGeom>
            <a:solidFill>
              <a:srgbClr val="EEF2EA"/>
            </a:solidFill>
            <a:ln w="19050">
              <a:solidFill>
                <a:srgbClr val="35562A"/>
              </a:solidFill>
            </a:ln>
          </p:spPr>
        </p:sp>
        <p:sp>
          <p:nvSpPr>
            <p:cNvPr id="268" name="Ellipse 40"/>
            <p:cNvSpPr/>
            <p:nvPr/>
          </p:nvSpPr>
          <p:spPr>
            <a:xfrm>
              <a:off x="10172700" y="2076450"/>
              <a:ext cx="1295400" cy="228600"/>
            </a:xfrm>
            <a:prstGeom prst="ellipse">
              <a:avLst/>
            </a:prstGeom>
            <a:solidFill>
              <a:srgbClr val="EEF2EA"/>
            </a:solidFill>
            <a:ln w="19050">
              <a:solidFill>
                <a:srgbClr val="35562A"/>
              </a:solidFill>
            </a:ln>
          </p:spPr>
        </p:sp>
        <p:sp>
          <p:nvSpPr>
            <p:cNvPr id="269" name="Ellipse 41"/>
            <p:cNvSpPr/>
            <p:nvPr/>
          </p:nvSpPr>
          <p:spPr>
            <a:xfrm>
              <a:off x="10172700" y="2628900"/>
              <a:ext cx="1295400" cy="228600"/>
            </a:xfrm>
            <a:prstGeom prst="ellipse">
              <a:avLst/>
            </a:prstGeom>
            <a:solidFill>
              <a:srgbClr val="EEF2EA"/>
            </a:solidFill>
            <a:ln w="19050">
              <a:solidFill>
                <a:srgbClr val="35562A"/>
              </a:solidFill>
            </a:ln>
          </p:spPr>
        </p:sp>
        <p:sp>
          <p:nvSpPr>
            <p:cNvPr id="270" name="TextBox 42"/>
            <p:cNvSpPr txBox="1"/>
            <p:nvPr/>
          </p:nvSpPr>
          <p:spPr>
            <a:xfrm>
              <a:off x="10252440" y="2333149"/>
              <a:ext cx="11359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Verified fallback</a:t>
              </a:r>
              <a:endPara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71" name="TextBox 43"/>
            <p:cNvSpPr txBox="1"/>
            <p:nvPr/>
          </p:nvSpPr>
          <p:spPr>
            <a:xfrm>
              <a:off x="10416366" y="250459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best-so-far</a:t>
              </a:r>
              <a:endParaRPr lang="en-US" sz="98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72" name="Freeform 44"/>
            <p:cNvSpPr/>
            <p:nvPr/>
          </p:nvSpPr>
          <p:spPr>
            <a:xfrm>
              <a:off x="7429500" y="2952750"/>
              <a:ext cx="514350" cy="342900"/>
            </a:xfrm>
            <a:custGeom>
              <a:avLst/>
              <a:gdLst/>
              <a:ahLst/>
              <a:cxnLst/>
              <a:rect l="l" t="t" r="r" b="b"/>
              <a:pathLst>
                <a:path w="514350" h="342900">
                  <a:moveTo>
                    <a:pt x="0" y="0"/>
                  </a:moveTo>
                  <a:lnTo>
                    <a:pt x="0" y="342900"/>
                  </a:lnTo>
                  <a:lnTo>
                    <a:pt x="514350" y="342900"/>
                  </a:lnTo>
                </a:path>
              </a:pathLst>
            </a:cu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73" name="Rectangle 45"/>
            <p:cNvSpPr/>
            <p:nvPr/>
          </p:nvSpPr>
          <p:spPr>
            <a:xfrm>
              <a:off x="7942072" y="3109754"/>
              <a:ext cx="1009650" cy="31877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445437"/>
              </a:solidFill>
            </a:ln>
          </p:spPr>
        </p:sp>
        <p:sp>
          <p:nvSpPr>
            <p:cNvPr id="274" name="TextBox 46"/>
            <p:cNvSpPr txBox="1"/>
            <p:nvPr/>
          </p:nvSpPr>
          <p:spPr>
            <a:xfrm>
              <a:off x="8026527" y="3189129"/>
              <a:ext cx="84074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Optimize 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75" name="Line 47"/>
            <p:cNvSpPr/>
            <p:nvPr/>
          </p:nvSpPr>
          <p:spPr>
            <a:xfrm>
              <a:off x="8991600" y="3295650"/>
              <a:ext cx="5715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76" name="Polygon 48"/>
            <p:cNvSpPr/>
            <p:nvPr/>
          </p:nvSpPr>
          <p:spPr>
            <a:xfrm>
              <a:off x="9048750" y="28194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476250" y="0"/>
                  </a:moveTo>
                  <a:lnTo>
                    <a:pt x="952500" y="476250"/>
                  </a:lnTo>
                  <a:lnTo>
                    <a:pt x="476250" y="95250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35562A"/>
            </a:solidFill>
            <a:ln w="19050">
              <a:solidFill>
                <a:srgbClr val="35562A"/>
              </a:solidFill>
            </a:ln>
          </p:spPr>
        </p:sp>
        <p:sp>
          <p:nvSpPr>
            <p:cNvPr id="277" name="TextBox 49"/>
            <p:cNvSpPr txBox="1"/>
            <p:nvPr/>
          </p:nvSpPr>
          <p:spPr>
            <a:xfrm>
              <a:off x="9285915" y="3108960"/>
              <a:ext cx="47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Q_HW</a:t>
              </a:r>
              <a:endParaRPr lang="en-US" sz="12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8" name="TextBox 50"/>
            <p:cNvSpPr txBox="1"/>
            <p:nvPr/>
          </p:nvSpPr>
          <p:spPr>
            <a:xfrm>
              <a:off x="9196824" y="3314224"/>
              <a:ext cx="6563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improves?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79" name="Freeform 51"/>
            <p:cNvSpPr/>
            <p:nvPr/>
          </p:nvSpPr>
          <p:spPr>
            <a:xfrm>
              <a:off x="10001250" y="2895600"/>
              <a:ext cx="819150" cy="400050"/>
            </a:xfrm>
            <a:custGeom>
              <a:avLst/>
              <a:gdLst/>
              <a:ahLst/>
              <a:cxnLst/>
              <a:rect l="l" t="t" r="r" b="b"/>
              <a:pathLst>
                <a:path w="819150" h="400050">
                  <a:moveTo>
                    <a:pt x="0" y="400050"/>
                  </a:moveTo>
                  <a:lnTo>
                    <a:pt x="819150" y="400050"/>
                  </a:ln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280" name="TextBox 52"/>
            <p:cNvSpPr txBox="1"/>
            <p:nvPr/>
          </p:nvSpPr>
          <p:spPr>
            <a:xfrm>
              <a:off x="9952542" y="3093244"/>
              <a:ext cx="8708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YES · update</a:t>
              </a:r>
              <a:endPara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1" name="Line 53"/>
            <p:cNvSpPr/>
            <p:nvPr/>
          </p:nvSpPr>
          <p:spPr>
            <a:xfrm>
              <a:off x="10948670" y="2895600"/>
              <a:ext cx="1" cy="895350"/>
            </a:xfrm>
            <a:prstGeom prst="line">
              <a:avLst/>
            </a:prstGeom>
            <a:noFill/>
            <a:ln w="19050">
              <a:solidFill>
                <a:srgbClr val="35562A"/>
              </a:solidFill>
              <a:tailEnd type="triangle" w="lg" len="lg"/>
            </a:ln>
          </p:spPr>
        </p:sp>
        <p:sp>
          <p:nvSpPr>
            <p:cNvPr id="282" name="TextBox 54"/>
            <p:cNvSpPr txBox="1"/>
            <p:nvPr/>
          </p:nvSpPr>
          <p:spPr>
            <a:xfrm>
              <a:off x="10986262" y="334406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stop</a:t>
              </a:r>
              <a:endParaRPr lang="en-US" sz="980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3" name="Polygon 55"/>
            <p:cNvSpPr/>
            <p:nvPr/>
          </p:nvSpPr>
          <p:spPr>
            <a:xfrm>
              <a:off x="10172700" y="3829050"/>
              <a:ext cx="1295400" cy="533400"/>
            </a:xfrm>
            <a:custGeom>
              <a:avLst/>
              <a:gdLst/>
              <a:ahLst/>
              <a:cxnLst/>
              <a:rect l="l" t="t" r="r" b="b"/>
              <a:pathLst>
                <a:path w="1295400" h="533400">
                  <a:moveTo>
                    <a:pt x="0" y="0"/>
                  </a:moveTo>
                  <a:lnTo>
                    <a:pt x="1143000" y="0"/>
                  </a:lnTo>
                  <a:lnTo>
                    <a:pt x="1295400" y="266700"/>
                  </a:lnTo>
                  <a:lnTo>
                    <a:pt x="1143000" y="533400"/>
                  </a:lnTo>
                  <a:lnTo>
                    <a:pt x="0" y="533400"/>
                  </a:lnTo>
                  <a:lnTo>
                    <a:pt x="152400" y="266700"/>
                  </a:lnTo>
                  <a:close/>
                </a:path>
              </a:pathLst>
            </a:custGeom>
            <a:solidFill>
              <a:srgbClr val="35562A"/>
            </a:solidFill>
            <a:ln>
              <a:noFill/>
            </a:ln>
          </p:spPr>
        </p:sp>
        <p:sp>
          <p:nvSpPr>
            <p:cNvPr id="284" name="TextBox 56"/>
            <p:cNvSpPr txBox="1"/>
            <p:nvPr/>
          </p:nvSpPr>
          <p:spPr>
            <a:xfrm>
              <a:off x="10570743" y="3942874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Output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5" name="TextBox 57"/>
            <p:cNvSpPr txBox="1"/>
            <p:nvPr/>
          </p:nvSpPr>
          <p:spPr>
            <a:xfrm>
              <a:off x="10208580" y="4114324"/>
              <a:ext cx="12236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fallback + evidence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6" name="Group 74"/>
          <p:cNvGrpSpPr/>
          <p:nvPr/>
        </p:nvGrpSpPr>
        <p:grpSpPr>
          <a:xfrm>
            <a:off x="1752600" y="2532380"/>
            <a:ext cx="7902972" cy="2705100"/>
            <a:chOff x="1752600" y="2895600"/>
            <a:chExt cx="7902972" cy="2705100"/>
          </a:xfrm>
        </p:grpSpPr>
        <p:sp>
          <p:nvSpPr>
            <p:cNvPr id="287" name="Rectangle 59"/>
            <p:cNvSpPr/>
            <p:nvPr/>
          </p:nvSpPr>
          <p:spPr>
            <a:xfrm>
              <a:off x="1752600" y="4762500"/>
              <a:ext cx="2552700" cy="838200"/>
            </a:xfrm>
            <a:prstGeom prst="rect">
              <a:avLst/>
            </a:prstGeom>
            <a:solidFill>
              <a:srgbClr val="EEF2EA"/>
            </a:solidFill>
            <a:ln w="19050">
              <a:solidFill>
                <a:srgbClr val="445437"/>
              </a:solidFill>
            </a:ln>
          </p:spPr>
        </p:sp>
        <p:sp>
          <p:nvSpPr>
            <p:cNvPr id="288" name="TextBox 60"/>
            <p:cNvSpPr txBox="1"/>
            <p:nvPr/>
          </p:nvSpPr>
          <p:spPr>
            <a:xfrm>
              <a:off x="1953768" y="4860608"/>
              <a:ext cx="10058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454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QoR-RAG</a:t>
              </a:r>
              <a:endParaRPr lang="en-US" sz="1650" b="1" dirty="0">
                <a:solidFill>
                  <a:srgbClr val="4454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89" name="TextBox 61"/>
            <p:cNvSpPr txBox="1"/>
            <p:nvPr/>
          </p:nvSpPr>
          <p:spPr>
            <a:xfrm>
              <a:off x="1957197" y="5171599"/>
              <a:ext cx="2405761" cy="390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75"/>
                </a:lnSpc>
              </a:pPr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rules · verified success / failure cases bounded context for the next proposal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0" name="Rectangle 62"/>
            <p:cNvSpPr/>
            <p:nvPr/>
          </p:nvSpPr>
          <p:spPr>
            <a:xfrm>
              <a:off x="6191250" y="4762500"/>
              <a:ext cx="333375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9A4937"/>
              </a:solidFill>
            </a:ln>
          </p:spPr>
        </p:sp>
        <p:sp>
          <p:nvSpPr>
            <p:cNvPr id="291" name="Rectangle 63"/>
            <p:cNvSpPr/>
            <p:nvPr/>
          </p:nvSpPr>
          <p:spPr>
            <a:xfrm>
              <a:off x="6191250" y="4762500"/>
              <a:ext cx="76200" cy="838200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292" name="TextBox 64"/>
            <p:cNvSpPr txBox="1"/>
            <p:nvPr/>
          </p:nvSpPr>
          <p:spPr>
            <a:xfrm>
              <a:off x="6449568" y="4860608"/>
              <a:ext cx="20476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Failure Reflection</a:t>
              </a:r>
              <a:endParaRPr lang="en-US" sz="16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3" name="TextBox 65"/>
            <p:cNvSpPr txBox="1"/>
            <p:nvPr/>
          </p:nvSpPr>
          <p:spPr>
            <a:xfrm>
              <a:off x="6452997" y="5171599"/>
              <a:ext cx="2555113" cy="390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75"/>
                </a:lnSpc>
              </a:pPr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tool diagnostics · measured QoR rejection diff → next optimization constraint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4" name="Freeform 66"/>
            <p:cNvSpPr/>
            <p:nvPr/>
          </p:nvSpPr>
          <p:spPr>
            <a:xfrm>
              <a:off x="5429250" y="2952750"/>
              <a:ext cx="1238250" cy="1771650"/>
            </a:xfrm>
            <a:custGeom>
              <a:avLst/>
              <a:gdLst/>
              <a:ahLst/>
              <a:cxnLst/>
              <a:rect l="l" t="t" r="r" b="b"/>
              <a:pathLst>
                <a:path w="1238250" h="1771650">
                  <a:moveTo>
                    <a:pt x="0" y="0"/>
                  </a:moveTo>
                  <a:lnTo>
                    <a:pt x="0" y="1352550"/>
                  </a:lnTo>
                  <a:lnTo>
                    <a:pt x="1238250" y="1352550"/>
                  </a:lnTo>
                  <a:lnTo>
                    <a:pt x="1238250" y="1771650"/>
                  </a:lnTo>
                </a:path>
              </a:pathLst>
            </a:custGeom>
            <a:noFill/>
            <a:ln w="19050">
              <a:solidFill>
                <a:srgbClr val="9A4937"/>
              </a:solidFill>
              <a:custDash>
                <a:ds d="400000" sp="250000"/>
              </a:custDash>
              <a:tailEnd type="triangle" w="lg" len="lg"/>
            </a:ln>
          </p:spPr>
        </p:sp>
        <p:sp>
          <p:nvSpPr>
            <p:cNvPr id="295" name="TextBox 67"/>
            <p:cNvSpPr txBox="1"/>
            <p:nvPr/>
          </p:nvSpPr>
          <p:spPr>
            <a:xfrm>
              <a:off x="5519547" y="4104799"/>
              <a:ext cx="1632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any failed validation gate</a:t>
              </a:r>
              <a:endParaRPr lang="en-US" sz="980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6" name="Freeform 68"/>
            <p:cNvSpPr/>
            <p:nvPr/>
          </p:nvSpPr>
          <p:spPr>
            <a:xfrm>
              <a:off x="7858125" y="3771900"/>
              <a:ext cx="1666875" cy="952500"/>
            </a:xfrm>
            <a:custGeom>
              <a:avLst/>
              <a:gdLst/>
              <a:ahLst/>
              <a:cxnLst/>
              <a:rect l="l" t="t" r="r" b="b"/>
              <a:pathLst>
                <a:path w="1666875" h="952500">
                  <a:moveTo>
                    <a:pt x="1666875" y="0"/>
                  </a:moveTo>
                  <a:lnTo>
                    <a:pt x="1666875" y="666750"/>
                  </a:lnTo>
                  <a:lnTo>
                    <a:pt x="0" y="666750"/>
                  </a:lnTo>
                  <a:lnTo>
                    <a:pt x="0" y="952500"/>
                  </a:lnTo>
                </a:path>
              </a:pathLst>
            </a:custGeom>
            <a:noFill/>
            <a:ln w="19050">
              <a:solidFill>
                <a:srgbClr val="9A4937"/>
              </a:solidFill>
              <a:custDash>
                <a:ds d="400000" sp="250000"/>
              </a:custDash>
              <a:tailEnd type="triangle" w="lg" len="lg"/>
            </a:ln>
          </p:spPr>
        </p:sp>
        <p:sp>
          <p:nvSpPr>
            <p:cNvPr id="297" name="TextBox 69"/>
            <p:cNvSpPr txBox="1"/>
            <p:nvPr/>
          </p:nvSpPr>
          <p:spPr>
            <a:xfrm>
              <a:off x="7734427" y="4228624"/>
              <a:ext cx="192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NO · measured QoR evidence</a:t>
              </a:r>
              <a:endParaRPr lang="en-US" sz="98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98" name="Line 70"/>
            <p:cNvSpPr/>
            <p:nvPr/>
          </p:nvSpPr>
          <p:spPr>
            <a:xfrm flipH="1">
              <a:off x="4343400" y="5181600"/>
              <a:ext cx="1847850" cy="1"/>
            </a:xfrm>
            <a:prstGeom prst="line">
              <a:avLst/>
            </a:pr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299" name="TextBox 71"/>
            <p:cNvSpPr txBox="1"/>
            <p:nvPr/>
          </p:nvSpPr>
          <p:spPr>
            <a:xfrm>
              <a:off x="4437824" y="4962049"/>
              <a:ext cx="1659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update retrieval evidence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00" name="Freeform 72"/>
            <p:cNvSpPr/>
            <p:nvPr/>
          </p:nvSpPr>
          <p:spPr>
            <a:xfrm>
              <a:off x="2400300" y="2895600"/>
              <a:ext cx="628650" cy="1866900"/>
            </a:xfrm>
            <a:custGeom>
              <a:avLst/>
              <a:gdLst/>
              <a:ahLst/>
              <a:cxnLst/>
              <a:rect l="l" t="t" r="r" b="b"/>
              <a:pathLst>
                <a:path w="628650" h="1866900">
                  <a:moveTo>
                    <a:pt x="628650" y="1866900"/>
                  </a:moveTo>
                  <a:lnTo>
                    <a:pt x="628650" y="1162050"/>
                  </a:lnTo>
                  <a:lnTo>
                    <a:pt x="0" y="116205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445437"/>
              </a:solidFill>
              <a:tailEnd type="triangle" w="lg" len="lg"/>
            </a:ln>
          </p:spPr>
        </p:sp>
        <p:sp>
          <p:nvSpPr>
            <p:cNvPr id="301" name="TextBox 73"/>
            <p:cNvSpPr txBox="1"/>
            <p:nvPr/>
          </p:nvSpPr>
          <p:spPr>
            <a:xfrm>
              <a:off x="3119247" y="3857149"/>
              <a:ext cx="1894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4454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next-round Optimize context</a:t>
              </a:r>
              <a:endParaRPr lang="en-US" sz="980" dirty="0">
                <a:solidFill>
                  <a:srgbClr val="4454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02" name="Group 77"/>
          <p:cNvGrpSpPr/>
          <p:nvPr/>
        </p:nvGrpSpPr>
        <p:grpSpPr>
          <a:xfrm>
            <a:off x="876300" y="2589530"/>
            <a:ext cx="9258300" cy="3028950"/>
            <a:chOff x="876300" y="2952750"/>
            <a:chExt cx="9258300" cy="3028950"/>
          </a:xfrm>
        </p:grpSpPr>
        <p:sp>
          <p:nvSpPr>
            <p:cNvPr id="303" name="Freeform 75"/>
            <p:cNvSpPr/>
            <p:nvPr/>
          </p:nvSpPr>
          <p:spPr>
            <a:xfrm>
              <a:off x="876300" y="2952750"/>
              <a:ext cx="9258300" cy="3028950"/>
            </a:xfrm>
            <a:custGeom>
              <a:avLst/>
              <a:gdLst/>
              <a:ahLst/>
              <a:cxnLst/>
              <a:rect l="l" t="t" r="r" b="b"/>
              <a:pathLst>
                <a:path w="9258300" h="3028950">
                  <a:moveTo>
                    <a:pt x="2533650" y="0"/>
                  </a:moveTo>
                  <a:lnTo>
                    <a:pt x="2533650" y="762000"/>
                  </a:lnTo>
                  <a:lnTo>
                    <a:pt x="0" y="762000"/>
                  </a:lnTo>
                  <a:lnTo>
                    <a:pt x="0" y="3028950"/>
                  </a:lnTo>
                  <a:lnTo>
                    <a:pt x="9105900" y="3028950"/>
                  </a:lnTo>
                  <a:lnTo>
                    <a:pt x="9105900" y="1143000"/>
                  </a:lnTo>
                  <a:lnTo>
                    <a:pt x="9258300" y="1143000"/>
                  </a:lnTo>
                </a:path>
              </a:pathLst>
            </a:custGeom>
            <a:noFill/>
            <a:ln w="19050">
              <a:solidFill>
                <a:srgbClr val="9A4937"/>
              </a:solidFill>
              <a:custDash>
                <a:ds d="400000" sp="250000"/>
              </a:custDash>
              <a:tailEnd type="triangle" w="lg" len="lg"/>
            </a:ln>
          </p:spPr>
        </p:sp>
        <p:sp>
          <p:nvSpPr>
            <p:cNvPr id="304" name="TextBox 76"/>
            <p:cNvSpPr txBox="1"/>
            <p:nvPr/>
          </p:nvSpPr>
          <p:spPr>
            <a:xfrm>
              <a:off x="4147947" y="5790724"/>
              <a:ext cx="52672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insufficient credits → emit the current verified fallback before partial validation</a:t>
              </a:r>
              <a:endParaRPr lang="en-US" sz="980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305" name="TextBox 36"/>
          <p:cNvSpPr txBox="1"/>
          <p:nvPr/>
        </p:nvSpPr>
        <p:spPr>
          <a:xfrm>
            <a:off x="4147947" y="2620169"/>
            <a:ext cx="1232535" cy="3009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Repair / Structural </a:t>
            </a:r>
            <a:r>
              <a: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Agent</a:t>
            </a:r>
            <a:endParaRPr lang="en-US" sz="980" b="1" dirty="0">
              <a:solidFill>
                <a:srgbClr val="35562A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6" name="TextBox 46"/>
          <p:cNvSpPr txBox="1"/>
          <p:nvPr/>
        </p:nvSpPr>
        <p:spPr>
          <a:xfrm>
            <a:off x="5519547" y="2620169"/>
            <a:ext cx="840740" cy="3009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Optimize Agent</a:t>
            </a:r>
            <a:endParaRPr lang="en-US" sz="980" b="1" dirty="0">
              <a:solidFill>
                <a:srgbClr val="35562A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5335905" cy="58420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测试集构成与评测</a:t>
            </a:r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模型选择</a:t>
            </a:r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8360" y="1273175"/>
            <a:ext cx="5022215" cy="1127125"/>
          </a:xfrm>
          <a:prstGeom prst="rect">
            <a:avLst/>
          </a:prstGeom>
        </p:spPr>
      </p:pic>
      <p:cxnSp>
        <p:nvCxnSpPr>
          <p:cNvPr id="97" name="直接箭头连接符 96"/>
          <p:cNvCxnSpPr/>
          <p:nvPr/>
        </p:nvCxnSpPr>
        <p:spPr>
          <a:xfrm flipV="1">
            <a:off x="2418080" y="1273175"/>
            <a:ext cx="700405" cy="182880"/>
          </a:xfrm>
          <a:prstGeom prst="straightConnector1">
            <a:avLst/>
          </a:prstGeom>
          <a:ln w="127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316865" y="5878830"/>
            <a:ext cx="5778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测试数据来源于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AMD/Xilinx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的两个公开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GitHub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仓库：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Xilinx/Vitis-HLS-Introductory-Examples（109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个任务）和 </a:t>
            </a:r>
            <a:r>
              <a:rPr lang="en-US" altLang="zh-CN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Xilinx/Vitis_Accel_Examples（41 </a:t>
            </a:r>
            <a:r>
              <a:rPr lang="zh-CN" altLang="en-US" sz="16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个任务）。</a:t>
            </a:r>
            <a:endParaRPr lang="zh-CN" altLang="en-US" sz="16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99" name="直接箭头连接符 98"/>
          <p:cNvCxnSpPr>
            <a:endCxn id="101" idx="3"/>
          </p:cNvCxnSpPr>
          <p:nvPr/>
        </p:nvCxnSpPr>
        <p:spPr>
          <a:xfrm flipH="1" flipV="1">
            <a:off x="2670810" y="1271905"/>
            <a:ext cx="828675" cy="44958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104" idx="3"/>
          </p:cNvCxnSpPr>
          <p:nvPr/>
        </p:nvCxnSpPr>
        <p:spPr>
          <a:xfrm flipH="1">
            <a:off x="2750185" y="2037715"/>
            <a:ext cx="773430" cy="13208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36270" y="1087755"/>
            <a:ext cx="2034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功能正确未经优化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2" name="直接箭头连接符 101"/>
          <p:cNvCxnSpPr>
            <a:endCxn id="103" idx="3"/>
          </p:cNvCxnSpPr>
          <p:nvPr/>
        </p:nvCxnSpPr>
        <p:spPr>
          <a:xfrm flipH="1" flipV="1">
            <a:off x="2670810" y="1755140"/>
            <a:ext cx="861695" cy="99060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153035" y="1570990"/>
            <a:ext cx="251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编译失败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or 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综合失败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53035" y="1985645"/>
            <a:ext cx="259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csim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失败</a:t>
            </a:r>
            <a:r>
              <a:rPr lang="en-US" altLang="zh-CN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or cosim</a:t>
            </a:r>
            <a:r>
              <a:rPr lang="zh-CN" altLang="en-US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失败</a:t>
            </a:r>
            <a:endParaRPr lang="zh-CN" altLang="en-US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16865" y="2400300"/>
            <a:ext cx="2578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panose="02010609060101010101" charset="-122"/>
                <a:ea typeface="仿宋" panose="02010609060101010101" charset="-122"/>
              </a:rPr>
              <a:t>存在死锁等结构性问题</a:t>
            </a:r>
            <a:endParaRPr lang="zh-CN" altLang="en-US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06" name="直接箭头连接符 105"/>
          <p:cNvCxnSpPr>
            <a:endCxn id="105" idx="3"/>
          </p:cNvCxnSpPr>
          <p:nvPr/>
        </p:nvCxnSpPr>
        <p:spPr>
          <a:xfrm flipH="1">
            <a:off x="2894965" y="2163445"/>
            <a:ext cx="554990" cy="421005"/>
          </a:xfrm>
          <a:prstGeom prst="straightConnector1">
            <a:avLst/>
          </a:prstGeom>
          <a:ln w="127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图片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765" y="2460625"/>
            <a:ext cx="3905885" cy="3760470"/>
          </a:xfrm>
          <a:prstGeom prst="rect">
            <a:avLst/>
          </a:prstGeom>
        </p:spPr>
      </p:pic>
      <p:sp>
        <p:nvSpPr>
          <p:cNvPr id="110" name="文本框 109"/>
          <p:cNvSpPr txBox="1"/>
          <p:nvPr>
            <p:custDataLst>
              <p:tags r:id="rId3"/>
            </p:custDataLst>
          </p:nvPr>
        </p:nvSpPr>
        <p:spPr>
          <a:xfrm>
            <a:off x="2957830" y="2549525"/>
            <a:ext cx="4231005" cy="4603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150 个任务覆盖六类 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HLS 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能力</a:t>
            </a:r>
            <a:endParaRPr lang="zh-CN" altLang="en-US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7430135" y="6281420"/>
            <a:ext cx="484314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3 </a:t>
            </a:r>
            <a:r>
              <a: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种</a:t>
            </a:r>
            <a:r>
              <a:rPr lang="en-US" altLang="zh-CN" sz="2400" b="1" dirty="0">
                <a:solidFill>
                  <a:schemeClr val="accent1"/>
                </a:solidFill>
                <a:latin typeface="Arial" panose="020B0604020202020204"/>
                <a:cs typeface="+mn-ea"/>
              </a:rPr>
              <a:t>模型覆盖不同参数规模与架构</a:t>
            </a:r>
            <a:endParaRPr lang="en-US" altLang="zh-CN" sz="2400" b="1" dirty="0">
              <a:solidFill>
                <a:schemeClr val="accent1"/>
              </a:solidFill>
              <a:latin typeface="Arial" panose="020B0604020202020204"/>
              <a:cs typeface="+mn-ea"/>
            </a:endParaRPr>
          </a:p>
        </p:txBody>
      </p:sp>
      <p:grpSp>
        <p:nvGrpSpPr>
          <p:cNvPr id="3" name="Group 69"/>
          <p:cNvGrpSpPr/>
          <p:nvPr/>
        </p:nvGrpSpPr>
        <p:grpSpPr>
          <a:xfrm>
            <a:off x="328295" y="3103880"/>
            <a:ext cx="7289165" cy="2682240"/>
            <a:chOff x="609600" y="2286000"/>
            <a:chExt cx="10972800" cy="2943225"/>
          </a:xfrm>
        </p:grpSpPr>
        <p:sp>
          <p:nvSpPr>
            <p:cNvPr id="4" name="Rectangle 14"/>
            <p:cNvSpPr/>
            <p:nvPr/>
          </p:nvSpPr>
          <p:spPr>
            <a:xfrm>
              <a:off x="609600" y="2286000"/>
              <a:ext cx="10972800" cy="419100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5" name="Rectangle 15"/>
            <p:cNvSpPr/>
            <p:nvPr/>
          </p:nvSpPr>
          <p:spPr>
            <a:xfrm>
              <a:off x="609600" y="2705100"/>
              <a:ext cx="109728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Rectangle 16"/>
            <p:cNvSpPr/>
            <p:nvPr/>
          </p:nvSpPr>
          <p:spPr>
            <a:xfrm>
              <a:off x="609600" y="3124200"/>
              <a:ext cx="10972800" cy="419100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7" name="Rectangle 17"/>
            <p:cNvSpPr/>
            <p:nvPr/>
          </p:nvSpPr>
          <p:spPr>
            <a:xfrm>
              <a:off x="609600" y="3543300"/>
              <a:ext cx="109728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Rectangle 18"/>
            <p:cNvSpPr/>
            <p:nvPr/>
          </p:nvSpPr>
          <p:spPr>
            <a:xfrm>
              <a:off x="609600" y="3962400"/>
              <a:ext cx="10972800" cy="419100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9" name="Rectangle 19"/>
            <p:cNvSpPr/>
            <p:nvPr/>
          </p:nvSpPr>
          <p:spPr>
            <a:xfrm>
              <a:off x="609600" y="4381500"/>
              <a:ext cx="10972800" cy="419100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10" name="Rectangle 20"/>
            <p:cNvSpPr/>
            <p:nvPr/>
          </p:nvSpPr>
          <p:spPr>
            <a:xfrm>
              <a:off x="609600" y="4381500"/>
              <a:ext cx="57150" cy="419100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11" name="Rectangle 21"/>
            <p:cNvSpPr/>
            <p:nvPr/>
          </p:nvSpPr>
          <p:spPr>
            <a:xfrm>
              <a:off x="10039350" y="4381500"/>
              <a:ext cx="1543050" cy="419100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12" name="Rectangle 22"/>
            <p:cNvSpPr/>
            <p:nvPr/>
          </p:nvSpPr>
          <p:spPr>
            <a:xfrm>
              <a:off x="609600" y="4800600"/>
              <a:ext cx="10972800" cy="41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Line 23"/>
            <p:cNvSpPr/>
            <p:nvPr/>
          </p:nvSpPr>
          <p:spPr>
            <a:xfrm>
              <a:off x="2705100" y="2286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0" name="Line 24"/>
            <p:cNvSpPr/>
            <p:nvPr/>
          </p:nvSpPr>
          <p:spPr>
            <a:xfrm>
              <a:off x="5162550" y="2286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1" name="Line 25"/>
            <p:cNvSpPr/>
            <p:nvPr/>
          </p:nvSpPr>
          <p:spPr>
            <a:xfrm>
              <a:off x="8705850" y="2286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2" name="Line 26"/>
            <p:cNvSpPr/>
            <p:nvPr/>
          </p:nvSpPr>
          <p:spPr>
            <a:xfrm>
              <a:off x="10039350" y="22860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3" name="Line 27"/>
            <p:cNvSpPr/>
            <p:nvPr/>
          </p:nvSpPr>
          <p:spPr>
            <a:xfrm>
              <a:off x="609600" y="2705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4" name="Line 28"/>
            <p:cNvSpPr/>
            <p:nvPr/>
          </p:nvSpPr>
          <p:spPr>
            <a:xfrm>
              <a:off x="609600" y="3124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5" name="Line 29"/>
            <p:cNvSpPr/>
            <p:nvPr/>
          </p:nvSpPr>
          <p:spPr>
            <a:xfrm>
              <a:off x="609600" y="3543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6" name="Line 30"/>
            <p:cNvSpPr/>
            <p:nvPr/>
          </p:nvSpPr>
          <p:spPr>
            <a:xfrm>
              <a:off x="609600" y="3962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7" name="Line 31"/>
            <p:cNvSpPr/>
            <p:nvPr/>
          </p:nvSpPr>
          <p:spPr>
            <a:xfrm>
              <a:off x="609600" y="4381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8" name="Line 32"/>
            <p:cNvSpPr/>
            <p:nvPr/>
          </p:nvSpPr>
          <p:spPr>
            <a:xfrm>
              <a:off x="609600" y="480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9" name="Line 33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0" name="TextBox 34"/>
            <p:cNvSpPr txBox="1"/>
            <p:nvPr/>
          </p:nvSpPr>
          <p:spPr>
            <a:xfrm>
              <a:off x="793750" y="2423160"/>
              <a:ext cx="110236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能力类别</a:t>
              </a:r>
              <a:endParaRPr 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1" name="TextBox 35"/>
            <p:cNvSpPr txBox="1"/>
            <p:nvPr/>
          </p:nvSpPr>
          <p:spPr>
            <a:xfrm>
              <a:off x="2889250" y="2423160"/>
              <a:ext cx="110236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初始状态</a:t>
              </a:r>
              <a:endParaRPr 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2" name="TextBox 36"/>
            <p:cNvSpPr txBox="1"/>
            <p:nvPr/>
          </p:nvSpPr>
          <p:spPr>
            <a:xfrm>
              <a:off x="5346700" y="2423160"/>
              <a:ext cx="110236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要求输出</a:t>
              </a:r>
              <a:endParaRPr 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3" name="TextBox 37"/>
            <p:cNvSpPr txBox="1"/>
            <p:nvPr/>
          </p:nvSpPr>
          <p:spPr>
            <a:xfrm>
              <a:off x="9112250" y="2423160"/>
              <a:ext cx="83185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任务数</a:t>
              </a:r>
              <a:endParaRPr lang="zh-CN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4" name="TextBox 38"/>
            <p:cNvSpPr txBox="1"/>
            <p:nvPr/>
          </p:nvSpPr>
          <p:spPr>
            <a:xfrm>
              <a:off x="10570845" y="2423160"/>
              <a:ext cx="76644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CoSim</a:t>
              </a:r>
              <a:endPara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5" name="TextBox 39"/>
            <p:cNvSpPr txBox="1"/>
            <p:nvPr/>
          </p:nvSpPr>
          <p:spPr>
            <a:xfrm>
              <a:off x="793750" y="28422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代码生成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6" name="TextBox 40"/>
            <p:cNvSpPr txBox="1"/>
            <p:nvPr/>
          </p:nvSpPr>
          <p:spPr>
            <a:xfrm>
              <a:off x="2889250" y="2842260"/>
              <a:ext cx="246824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仅含函数签名的 stub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7" name="TextBox 41"/>
            <p:cNvSpPr txBox="1"/>
            <p:nvPr/>
          </p:nvSpPr>
          <p:spPr>
            <a:xfrm>
              <a:off x="5346700" y="2842260"/>
              <a:ext cx="139827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完整 kernel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8" name="TextBox 42"/>
            <p:cNvSpPr txBox="1"/>
            <p:nvPr/>
          </p:nvSpPr>
          <p:spPr>
            <a:xfrm>
              <a:off x="9277350" y="2842260"/>
              <a:ext cx="30289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9" name="TextBox 43"/>
            <p:cNvSpPr txBox="1"/>
            <p:nvPr/>
          </p:nvSpPr>
          <p:spPr>
            <a:xfrm>
              <a:off x="10760075" y="2842260"/>
              <a:ext cx="16065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0" name="TextBox 44"/>
            <p:cNvSpPr txBox="1"/>
            <p:nvPr/>
          </p:nvSpPr>
          <p:spPr>
            <a:xfrm>
              <a:off x="793750" y="32613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编译修复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1" name="TextBox 45"/>
            <p:cNvSpPr txBox="1"/>
            <p:nvPr/>
          </p:nvSpPr>
          <p:spPr>
            <a:xfrm>
              <a:off x="2889250" y="32613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编译失败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2" name="TextBox 46"/>
            <p:cNvSpPr txBox="1"/>
            <p:nvPr/>
          </p:nvSpPr>
          <p:spPr>
            <a:xfrm>
              <a:off x="5346700" y="3261360"/>
              <a:ext cx="165671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可编译 kernel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3" name="TextBox 47"/>
            <p:cNvSpPr txBox="1"/>
            <p:nvPr/>
          </p:nvSpPr>
          <p:spPr>
            <a:xfrm>
              <a:off x="9277350" y="3261360"/>
              <a:ext cx="30289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4" name="TextBox 48"/>
            <p:cNvSpPr txBox="1"/>
            <p:nvPr/>
          </p:nvSpPr>
          <p:spPr>
            <a:xfrm>
              <a:off x="10760075" y="3261360"/>
              <a:ext cx="16065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5" name="TextBox 49"/>
            <p:cNvSpPr txBox="1"/>
            <p:nvPr/>
          </p:nvSpPr>
          <p:spPr>
            <a:xfrm>
              <a:off x="793750" y="36804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综合修复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8" name="TextBox 50"/>
            <p:cNvSpPr txBox="1"/>
            <p:nvPr/>
          </p:nvSpPr>
          <p:spPr>
            <a:xfrm>
              <a:off x="2889250" y="36804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综合失败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2" name="TextBox 51"/>
            <p:cNvSpPr txBox="1"/>
            <p:nvPr/>
          </p:nvSpPr>
          <p:spPr>
            <a:xfrm>
              <a:off x="5346700" y="3680460"/>
              <a:ext cx="165671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可综合 kernel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3" name="TextBox 52"/>
            <p:cNvSpPr txBox="1"/>
            <p:nvPr/>
          </p:nvSpPr>
          <p:spPr>
            <a:xfrm>
              <a:off x="9277350" y="3680460"/>
              <a:ext cx="30289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4" name="TextBox 53"/>
            <p:cNvSpPr txBox="1"/>
            <p:nvPr/>
          </p:nvSpPr>
          <p:spPr>
            <a:xfrm>
              <a:off x="10760075" y="3680460"/>
              <a:ext cx="16065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Box 54"/>
            <p:cNvSpPr txBox="1"/>
            <p:nvPr/>
          </p:nvSpPr>
          <p:spPr>
            <a:xfrm>
              <a:off x="793750" y="4099560"/>
              <a:ext cx="10502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功能修复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Box 55"/>
            <p:cNvSpPr txBox="1"/>
            <p:nvPr/>
          </p:nvSpPr>
          <p:spPr>
            <a:xfrm>
              <a:off x="2889250" y="4099560"/>
              <a:ext cx="119824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CSim 失败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7" name="TextBox 56"/>
            <p:cNvSpPr txBox="1"/>
            <p:nvPr/>
          </p:nvSpPr>
          <p:spPr>
            <a:xfrm>
              <a:off x="5346700" y="4099560"/>
              <a:ext cx="191389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功能正确 kernel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8" name="TextBox 57"/>
            <p:cNvSpPr txBox="1"/>
            <p:nvPr/>
          </p:nvSpPr>
          <p:spPr>
            <a:xfrm>
              <a:off x="9277350" y="4099560"/>
              <a:ext cx="30289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9" name="TextBox 58"/>
            <p:cNvSpPr txBox="1"/>
            <p:nvPr/>
          </p:nvSpPr>
          <p:spPr>
            <a:xfrm>
              <a:off x="10760075" y="4099560"/>
              <a:ext cx="16065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0" name="TextBox 59"/>
            <p:cNvSpPr txBox="1"/>
            <p:nvPr/>
          </p:nvSpPr>
          <p:spPr>
            <a:xfrm>
              <a:off x="793750" y="4518660"/>
              <a:ext cx="110236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结构修复</a:t>
              </a:r>
              <a:endParaRPr lang="zh-CN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1" name="TextBox 60"/>
            <p:cNvSpPr txBox="1"/>
            <p:nvPr/>
          </p:nvSpPr>
          <p:spPr>
            <a:xfrm>
              <a:off x="2889250" y="4518660"/>
              <a:ext cx="133731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CoSim 失败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2" name="TextBox 61"/>
            <p:cNvSpPr txBox="1"/>
            <p:nvPr/>
          </p:nvSpPr>
          <p:spPr>
            <a:xfrm>
              <a:off x="5346700" y="4518660"/>
              <a:ext cx="199390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可执行 RTL 结构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3" name="TextBox 62"/>
            <p:cNvSpPr txBox="1"/>
            <p:nvPr/>
          </p:nvSpPr>
          <p:spPr>
            <a:xfrm>
              <a:off x="9272905" y="4518660"/>
              <a:ext cx="31686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4" name="TextBox 63"/>
            <p:cNvSpPr txBox="1"/>
            <p:nvPr/>
          </p:nvSpPr>
          <p:spPr>
            <a:xfrm>
              <a:off x="10711180" y="4518660"/>
              <a:ext cx="31686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5" name="TextBox 64"/>
            <p:cNvSpPr txBox="1"/>
            <p:nvPr/>
          </p:nvSpPr>
          <p:spPr>
            <a:xfrm>
              <a:off x="793750" y="4937760"/>
              <a:ext cx="112966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QoR 优化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6" name="TextBox 65"/>
            <p:cNvSpPr txBox="1"/>
            <p:nvPr/>
          </p:nvSpPr>
          <p:spPr>
            <a:xfrm>
              <a:off x="2889250" y="4937760"/>
              <a:ext cx="161671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有效 baseline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7" name="TextBox 66"/>
            <p:cNvSpPr txBox="1"/>
            <p:nvPr/>
          </p:nvSpPr>
          <p:spPr>
            <a:xfrm>
              <a:off x="5346700" y="4937760"/>
              <a:ext cx="2443480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更优且有效的 Q_HW</a:t>
              </a:r>
              <a:endParaRPr lang="zh-CN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8" name="TextBox 67"/>
            <p:cNvSpPr txBox="1"/>
            <p:nvPr/>
          </p:nvSpPr>
          <p:spPr>
            <a:xfrm>
              <a:off x="9277350" y="4937760"/>
              <a:ext cx="30289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9" name="TextBox 68"/>
            <p:cNvSpPr txBox="1"/>
            <p:nvPr/>
          </p:nvSpPr>
          <p:spPr>
            <a:xfrm>
              <a:off x="10760075" y="4937760"/>
              <a:ext cx="160655" cy="2020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7476490" cy="120523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类别差距主要集中在生成与结构修复</a:t>
            </a:r>
            <a:endParaRPr lang="zh-CN" sz="32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2825" y="6383655"/>
            <a:ext cx="97028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每类 25 个任务；单元格表示成功完成任务数 / 25。此处 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QoR 100% 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表示该类别 25/25 完成，不代表 </a:t>
            </a:r>
            <a:r>
              <a:rPr lang="en-US" altLang="zh-CN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QHW </a:t>
            </a:r>
            <a:r>
              <a:rPr lang="zh-CN" altLang="en-US" sz="1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得分为 100</a:t>
            </a:r>
            <a:endParaRPr lang="zh-CN" altLang="en-US" sz="1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74" name="Group 74"/>
          <p:cNvGrpSpPr/>
          <p:nvPr/>
        </p:nvGrpSpPr>
        <p:grpSpPr>
          <a:xfrm>
            <a:off x="602742" y="1022985"/>
            <a:ext cx="10979658" cy="3469005"/>
            <a:chOff x="602742" y="1303020"/>
            <a:chExt cx="10979658" cy="3469005"/>
          </a:xfrm>
        </p:grpSpPr>
        <p:sp>
          <p:nvSpPr>
            <p:cNvPr id="4" name="TextBox 5"/>
            <p:cNvSpPr txBox="1"/>
            <p:nvPr/>
          </p:nvSpPr>
          <p:spPr>
            <a:xfrm>
              <a:off x="603504" y="1303020"/>
              <a:ext cx="3587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COMPLETION BY CATEGORY · 25 TASKS EACH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28047" y="1594485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Generate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86242" y="1594485"/>
              <a:ext cx="61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Compile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139785" y="1594485"/>
              <a:ext cx="4839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Synth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5101" y="1594485"/>
              <a:ext cx="865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Functional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99678" y="1594485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Structural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70534" y="1594485"/>
              <a:ext cx="3378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QoR</a:t>
              </a:r>
              <a:endParaRPr lang="en-US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2283142"/>
              <a:ext cx="1520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DeepSeek V4 Pro</a:t>
              </a:r>
              <a:endParaRPr lang="en-US" sz="135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3235642"/>
              <a:ext cx="1934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Qwen3.5-122B-A10B</a:t>
              </a:r>
              <a:endParaRPr lang="en-US" sz="135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4188142"/>
              <a:ext cx="1272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Qwen3.6-27B</a:t>
              </a:r>
              <a:endParaRPr lang="en-US" sz="135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667000" y="1905000"/>
              <a:ext cx="8915400" cy="2867025"/>
              <a:chOff x="2667000" y="1905000"/>
              <a:chExt cx="8915400" cy="2867025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667000" y="1905000"/>
                <a:ext cx="891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15400" h="9525">
                    <a:moveTo>
                      <a:pt x="0" y="0"/>
                    </a:moveTo>
                    <a:lnTo>
                      <a:pt x="8915400" y="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667000" y="2857500"/>
                <a:ext cx="891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15400" h="9525">
                    <a:moveTo>
                      <a:pt x="0" y="0"/>
                    </a:moveTo>
                    <a:lnTo>
                      <a:pt x="8915400" y="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667000" y="3810000"/>
                <a:ext cx="891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15400" h="9525">
                    <a:moveTo>
                      <a:pt x="0" y="0"/>
                    </a:moveTo>
                    <a:lnTo>
                      <a:pt x="8915400" y="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2667000" y="4762500"/>
                <a:ext cx="891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915400" h="9525">
                    <a:moveTo>
                      <a:pt x="0" y="0"/>
                    </a:moveTo>
                    <a:lnTo>
                      <a:pt x="8915400" y="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667000" y="1905000"/>
                <a:ext cx="1485900" cy="9525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152900" y="1905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638800" y="1905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7124700" y="1905000"/>
                <a:ext cx="1485900" cy="9525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8610600" y="1905000"/>
                <a:ext cx="1485900" cy="9525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0096500" y="1905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667000" y="2857500"/>
                <a:ext cx="1485900" cy="952500"/>
              </a:xfrm>
              <a:prstGeom prst="rect">
                <a:avLst/>
              </a:prstGeom>
              <a:solidFill>
                <a:srgbClr val="F4C400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4152900" y="28575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638800" y="28575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124700" y="2857500"/>
                <a:ext cx="1485900" cy="9525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8610600" y="28575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0096500" y="28575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2667000" y="3810000"/>
                <a:ext cx="1485900" cy="952500"/>
              </a:xfrm>
              <a:prstGeom prst="rect">
                <a:avLst/>
              </a:prstGeom>
              <a:solidFill>
                <a:srgbClr val="F4C400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152900" y="3810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638800" y="3810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124700" y="3810000"/>
                <a:ext cx="1485900" cy="9525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610600" y="3810000"/>
                <a:ext cx="1485900" cy="952500"/>
              </a:xfrm>
              <a:prstGeom prst="rect">
                <a:avLst/>
              </a:prstGeom>
              <a:solidFill>
                <a:srgbClr val="9A4937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096500" y="3810000"/>
                <a:ext cx="1485900" cy="9525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3124708" y="2116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96%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840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28977" y="2116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99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4877" y="2116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558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82408" y="2116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96%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417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68308" y="2116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96%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276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72577" y="2116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3518" y="2533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24708" y="30689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88%</a:t>
              </a:r>
              <a:endParaRPr lang="en-US" sz="21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840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22 / 25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28977" y="30689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699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4877" y="30689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558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82408" y="30689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96%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417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86677" y="30689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276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72577" y="30689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13518" y="34856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24708" y="4021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84%</a:t>
              </a:r>
              <a:endParaRPr lang="en-US" sz="210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1840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21 / 25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28977" y="4021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6699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4877" y="4021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558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82408" y="4021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96%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417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24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68308" y="4021455"/>
              <a:ext cx="570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72%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276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18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472577" y="40214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21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613518" y="4438174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25 / 25</a:t>
              </a:r>
              <a:endParaRPr lang="en-US" sz="98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2742" y="4825365"/>
            <a:ext cx="10979658" cy="946976"/>
            <a:chOff x="602742" y="5105400"/>
            <a:chExt cx="10979658" cy="946976"/>
          </a:xfrm>
        </p:grpSpPr>
        <p:sp>
          <p:nvSpPr>
            <p:cNvPr id="75" name="Line 75"/>
            <p:cNvSpPr/>
            <p:nvPr/>
          </p:nvSpPr>
          <p:spPr>
            <a:xfrm>
              <a:off x="609600" y="5105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04647" y="5295424"/>
              <a:ext cx="1297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COMMON STRENGTH</a:t>
              </a:r>
              <a:endParaRPr lang="en-US" sz="98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2742" y="5588318"/>
              <a:ext cx="4954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Compile、Synth、QoR 全部 100%；Functional 全部 96%</a:t>
              </a:r>
              <a:endParaRPr lang="zh-CN" sz="135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78" name="Line 78"/>
            <p:cNvSpPr/>
            <p:nvPr/>
          </p:nvSpPr>
          <p:spPr>
            <a:xfrm>
              <a:off x="5715000" y="52578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33897" y="5295424"/>
              <a:ext cx="1078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MOST BALANCED</a:t>
              </a:r>
              <a:endParaRPr lang="en-US" sz="98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31992" y="5588318"/>
              <a:ext cx="2403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454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DeepSeek 每类至少 24 / 25</a:t>
              </a:r>
              <a:endParaRPr lang="zh-CN" sz="1350" b="1" dirty="0">
                <a:solidFill>
                  <a:srgbClr val="4454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1" name="Line 81"/>
            <p:cNvSpPr/>
            <p:nvPr/>
          </p:nvSpPr>
          <p:spPr>
            <a:xfrm>
              <a:off x="8610600" y="52578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19050">
              <a:solidFill>
                <a:srgbClr val="D6DCCF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929497" y="5295424"/>
              <a:ext cx="9027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RESIDUAL GAP</a:t>
              </a:r>
              <a:endParaRPr lang="en-US" sz="98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927592" y="5550218"/>
              <a:ext cx="2137982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3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Qwen3.6：Generate 84%</a:t>
              </a:r>
              <a:r>
                <a:rPr lang="en-US" sz="1350" b="1" dirty="0">
                  <a:solidFill>
                    <a:srgbClr val="9A4937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 Structural 72%</a:t>
              </a:r>
              <a:endParaRPr lang="en-US" sz="1350" b="1" dirty="0">
                <a:solidFill>
                  <a:srgbClr val="9A4937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11570970" cy="120523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完成率均超过 92%，但结构修复均分仅 40–45</a:t>
            </a:r>
            <a:endParaRPr lang="zh-CN" sz="32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  <a:p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58607"/>
          <a:stretch>
            <a:fillRect/>
          </a:stretch>
        </p:blipFill>
        <p:spPr>
          <a:xfrm>
            <a:off x="631825" y="5777230"/>
            <a:ext cx="3490595" cy="928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42525"/>
          <a:stretch>
            <a:fillRect/>
          </a:stretch>
        </p:blipFill>
        <p:spPr>
          <a:xfrm>
            <a:off x="4079875" y="5568950"/>
            <a:ext cx="3490595" cy="1289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695" y="5653405"/>
            <a:ext cx="2840355" cy="1828165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860679" y="1013460"/>
            <a:ext cx="3573399" cy="1900904"/>
            <a:chOff x="603504" y="1499235"/>
            <a:chExt cx="3573399" cy="1900904"/>
          </a:xfrm>
        </p:grpSpPr>
        <p:sp>
          <p:nvSpPr>
            <p:cNvPr id="9" name="TextBox 5"/>
            <p:cNvSpPr txBox="1"/>
            <p:nvPr/>
          </p:nvSpPr>
          <p:spPr>
            <a:xfrm>
              <a:off x="603504" y="1499235"/>
              <a:ext cx="2624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任务完成率 · 每个端点 150 个任务</a:t>
              </a:r>
              <a:endParaRPr lang="zh-CN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752600" y="1847850"/>
              <a:ext cx="2390775" cy="1266825"/>
              <a:chOff x="1752600" y="1847850"/>
              <a:chExt cx="2390775" cy="1266825"/>
            </a:xfrm>
          </p:grpSpPr>
          <p:sp>
            <p:nvSpPr>
              <p:cNvPr id="10" name="Line 6"/>
              <p:cNvSpPr/>
              <p:nvPr/>
            </p:nvSpPr>
            <p:spPr>
              <a:xfrm>
                <a:off x="1752600" y="184785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9525">
                <a:solidFill>
                  <a:srgbClr val="687062"/>
                </a:solidFill>
              </a:ln>
            </p:spPr>
          </p:sp>
          <p:sp>
            <p:nvSpPr>
              <p:cNvPr id="11" name="Line 7"/>
              <p:cNvSpPr/>
              <p:nvPr/>
            </p:nvSpPr>
            <p:spPr>
              <a:xfrm>
                <a:off x="1752600" y="3105150"/>
                <a:ext cx="2381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9525">
                    <a:moveTo>
                      <a:pt x="0" y="0"/>
                    </a:moveTo>
                    <a:lnTo>
                      <a:pt x="2381250" y="0"/>
                    </a:lnTo>
                  </a:path>
                </a:pathLst>
              </a:custGeom>
              <a:noFill/>
              <a:ln w="9525">
                <a:solidFill>
                  <a:srgbClr val="687062"/>
                </a:solidFill>
              </a:ln>
            </p:spPr>
          </p:sp>
          <p:sp>
            <p:nvSpPr>
              <p:cNvPr id="12" name="Line 8"/>
              <p:cNvSpPr/>
              <p:nvPr/>
            </p:nvSpPr>
            <p:spPr>
              <a:xfrm>
                <a:off x="2943225" y="184785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4" name="Line 9"/>
              <p:cNvSpPr/>
              <p:nvPr/>
            </p:nvSpPr>
            <p:spPr>
              <a:xfrm>
                <a:off x="4133850" y="184785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9525">
                <a:solidFill>
                  <a:srgbClr val="D6DCCF"/>
                </a:solidFill>
              </a:ln>
            </p:spPr>
          </p:sp>
          <p:sp>
            <p:nvSpPr>
              <p:cNvPr id="15" name="Rectangle 10"/>
              <p:cNvSpPr/>
              <p:nvPr/>
            </p:nvSpPr>
            <p:spPr>
              <a:xfrm>
                <a:off x="1752600" y="2065020"/>
                <a:ext cx="2333625" cy="228600"/>
              </a:xfrm>
              <a:prstGeom prst="rect">
                <a:avLst/>
              </a:prstGeom>
              <a:solidFill>
                <a:srgbClr val="35562A"/>
              </a:solidFill>
              <a:ln>
                <a:noFill/>
              </a:ln>
            </p:spPr>
          </p:sp>
          <p:sp>
            <p:nvSpPr>
              <p:cNvPr id="16" name="Rectangle 11"/>
              <p:cNvSpPr/>
              <p:nvPr/>
            </p:nvSpPr>
            <p:spPr>
              <a:xfrm>
                <a:off x="1752600" y="2362200"/>
                <a:ext cx="2316956" cy="228600"/>
              </a:xfrm>
              <a:prstGeom prst="rect">
                <a:avLst/>
              </a:prstGeom>
              <a:solidFill>
                <a:srgbClr val="445437"/>
              </a:solidFill>
              <a:ln>
                <a:noFill/>
              </a:ln>
            </p:spPr>
          </p:sp>
          <p:sp>
            <p:nvSpPr>
              <p:cNvPr id="17" name="Rectangle 12"/>
              <p:cNvSpPr/>
              <p:nvPr/>
            </p:nvSpPr>
            <p:spPr>
              <a:xfrm>
                <a:off x="1752600" y="2659380"/>
                <a:ext cx="2190750" cy="228600"/>
              </a:xfrm>
              <a:prstGeom prst="rect">
                <a:avLst/>
              </a:prstGeom>
              <a:solidFill>
                <a:srgbClr val="F4C400"/>
              </a:solidFill>
              <a:ln>
                <a:noFill/>
              </a:ln>
            </p:spPr>
          </p:sp>
        </p:grpSp>
        <p:sp>
          <p:nvSpPr>
            <p:cNvPr id="18" name="TextBox 14"/>
            <p:cNvSpPr txBox="1"/>
            <p:nvPr/>
          </p:nvSpPr>
          <p:spPr>
            <a:xfrm>
              <a:off x="604647" y="2123599"/>
              <a:ext cx="1103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DeepSeek V4 Pro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604647" y="2418874"/>
              <a:ext cx="10015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Qwen3.5-122B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0" name="TextBox 16"/>
            <p:cNvSpPr txBox="1"/>
            <p:nvPr/>
          </p:nvSpPr>
          <p:spPr>
            <a:xfrm>
              <a:off x="604647" y="2714149"/>
              <a:ext cx="923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Qwen3.6-27B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Box 17"/>
            <p:cNvSpPr txBox="1"/>
            <p:nvPr/>
          </p:nvSpPr>
          <p:spPr>
            <a:xfrm>
              <a:off x="3758351" y="212359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98.0%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2" name="TextBox 18"/>
            <p:cNvSpPr txBox="1"/>
            <p:nvPr/>
          </p:nvSpPr>
          <p:spPr>
            <a:xfrm>
              <a:off x="3758351" y="2418874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97.3%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3615476" y="271414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92.0%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5" name="TextBox 20"/>
            <p:cNvSpPr txBox="1"/>
            <p:nvPr/>
          </p:nvSpPr>
          <p:spPr>
            <a:xfrm>
              <a:off x="1747647" y="32094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6" name="TextBox 21"/>
            <p:cNvSpPr txBox="1"/>
            <p:nvPr/>
          </p:nvSpPr>
          <p:spPr>
            <a:xfrm>
              <a:off x="2865712" y="320944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50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7" name="TextBox 22"/>
            <p:cNvSpPr txBox="1"/>
            <p:nvPr/>
          </p:nvSpPr>
          <p:spPr>
            <a:xfrm>
              <a:off x="3812271" y="32094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100%</a:t>
              </a:r>
              <a:endParaRPr lang="en-US" sz="980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5"/>
          <p:cNvGrpSpPr/>
          <p:nvPr/>
        </p:nvGrpSpPr>
        <p:grpSpPr>
          <a:xfrm>
            <a:off x="4823079" y="1013460"/>
            <a:ext cx="2748278" cy="234696"/>
            <a:chOff x="4565904" y="1499235"/>
            <a:chExt cx="2748278" cy="234696"/>
          </a:xfrm>
        </p:grpSpPr>
        <p:sp>
          <p:nvSpPr>
            <p:cNvPr id="29" name="TextBox 24"/>
            <p:cNvSpPr txBox="1"/>
            <p:nvPr/>
          </p:nvSpPr>
          <p:spPr>
            <a:xfrm>
              <a:off x="4565904" y="1499235"/>
              <a:ext cx="2748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有分任务的总体质量 · Score 0–100</a:t>
              </a:r>
              <a:endParaRPr lang="zh-CN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29175" y="1266825"/>
            <a:ext cx="7010400" cy="1619250"/>
            <a:chOff x="4572000" y="1752600"/>
            <a:chExt cx="7010400" cy="1619250"/>
          </a:xfrm>
        </p:grpSpPr>
        <p:sp>
          <p:nvSpPr>
            <p:cNvPr id="30" name="Rectangle 26"/>
            <p:cNvSpPr/>
            <p:nvPr/>
          </p:nvSpPr>
          <p:spPr>
            <a:xfrm>
              <a:off x="4572000" y="1752600"/>
              <a:ext cx="7010400" cy="381000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31" name="Rectangle 27"/>
            <p:cNvSpPr/>
            <p:nvPr/>
          </p:nvSpPr>
          <p:spPr>
            <a:xfrm>
              <a:off x="4572000" y="2133600"/>
              <a:ext cx="7010400" cy="409575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32" name="Rectangle 28"/>
            <p:cNvSpPr/>
            <p:nvPr/>
          </p:nvSpPr>
          <p:spPr>
            <a:xfrm>
              <a:off x="4572000" y="2543175"/>
              <a:ext cx="70104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29"/>
            <p:cNvSpPr/>
            <p:nvPr/>
          </p:nvSpPr>
          <p:spPr>
            <a:xfrm>
              <a:off x="4572000" y="2952750"/>
              <a:ext cx="701040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Rectangle 30"/>
            <p:cNvSpPr/>
            <p:nvPr/>
          </p:nvSpPr>
          <p:spPr>
            <a:xfrm>
              <a:off x="6762750" y="2543175"/>
              <a:ext cx="857250" cy="409575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35" name="Line 31"/>
            <p:cNvSpPr/>
            <p:nvPr/>
          </p:nvSpPr>
          <p:spPr>
            <a:xfrm>
              <a:off x="6762750" y="1752600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0" y="0"/>
                  </a:moveTo>
                  <a:lnTo>
                    <a:pt x="0" y="160972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36" name="Line 32"/>
            <p:cNvSpPr/>
            <p:nvPr/>
          </p:nvSpPr>
          <p:spPr>
            <a:xfrm>
              <a:off x="7620000" y="1752600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0" y="0"/>
                  </a:moveTo>
                  <a:lnTo>
                    <a:pt x="0" y="160972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37" name="Line 33"/>
            <p:cNvSpPr/>
            <p:nvPr/>
          </p:nvSpPr>
          <p:spPr>
            <a:xfrm>
              <a:off x="8667750" y="1752600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0" y="0"/>
                  </a:moveTo>
                  <a:lnTo>
                    <a:pt x="0" y="160972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38" name="Line 34"/>
            <p:cNvSpPr/>
            <p:nvPr/>
          </p:nvSpPr>
          <p:spPr>
            <a:xfrm>
              <a:off x="9715500" y="1752600"/>
              <a:ext cx="9525" cy="1609725"/>
            </a:xfrm>
            <a:custGeom>
              <a:avLst/>
              <a:gdLst/>
              <a:ahLst/>
              <a:cxnLst/>
              <a:rect l="l" t="t" r="r" b="b"/>
              <a:pathLst>
                <a:path w="9525" h="1609725">
                  <a:moveTo>
                    <a:pt x="0" y="0"/>
                  </a:moveTo>
                  <a:lnTo>
                    <a:pt x="0" y="160972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39" name="Line 35"/>
            <p:cNvSpPr/>
            <p:nvPr/>
          </p:nvSpPr>
          <p:spPr>
            <a:xfrm>
              <a:off x="4572000" y="21336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40" name="Line 36"/>
            <p:cNvSpPr/>
            <p:nvPr/>
          </p:nvSpPr>
          <p:spPr>
            <a:xfrm>
              <a:off x="4572000" y="2543175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41" name="Line 37"/>
            <p:cNvSpPr/>
            <p:nvPr/>
          </p:nvSpPr>
          <p:spPr>
            <a:xfrm>
              <a:off x="4572000" y="295275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42" name="Line 38"/>
            <p:cNvSpPr/>
            <p:nvPr/>
          </p:nvSpPr>
          <p:spPr>
            <a:xfrm>
              <a:off x="4572000" y="3362325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43" name="TextBox 39"/>
            <p:cNvSpPr txBox="1"/>
            <p:nvPr/>
          </p:nvSpPr>
          <p:spPr>
            <a:xfrm>
              <a:off x="4719447" y="1894999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Model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4" name="TextBox 40"/>
            <p:cNvSpPr txBox="1"/>
            <p:nvPr/>
          </p:nvSpPr>
          <p:spPr>
            <a:xfrm>
              <a:off x="6894336" y="1894999"/>
              <a:ext cx="5940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Scored N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5" name="TextBox 41"/>
            <p:cNvSpPr txBox="1"/>
            <p:nvPr/>
          </p:nvSpPr>
          <p:spPr>
            <a:xfrm>
              <a:off x="7970341" y="1894999"/>
              <a:ext cx="347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Mean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6" name="TextBox 42"/>
            <p:cNvSpPr txBox="1"/>
            <p:nvPr/>
          </p:nvSpPr>
          <p:spPr>
            <a:xfrm>
              <a:off x="8959447" y="1894999"/>
              <a:ext cx="4643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Median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7" name="TextBox 43"/>
            <p:cNvSpPr txBox="1"/>
            <p:nvPr/>
          </p:nvSpPr>
          <p:spPr>
            <a:xfrm>
              <a:off x="10361722" y="1894999"/>
              <a:ext cx="5744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Min–Max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8" name="TextBox 44"/>
            <p:cNvSpPr txBox="1"/>
            <p:nvPr/>
          </p:nvSpPr>
          <p:spPr>
            <a:xfrm>
              <a:off x="4719447" y="2285524"/>
              <a:ext cx="1103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DeepSeek V4 Pro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9" name="TextBox 45"/>
            <p:cNvSpPr txBox="1"/>
            <p:nvPr/>
          </p:nvSpPr>
          <p:spPr>
            <a:xfrm>
              <a:off x="7077582" y="228552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114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0" name="TextBox 46"/>
            <p:cNvSpPr txBox="1"/>
            <p:nvPr/>
          </p:nvSpPr>
          <p:spPr>
            <a:xfrm>
              <a:off x="7904550" y="226123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5562A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70.27</a:t>
              </a:r>
              <a:endParaRPr lang="en-US" sz="1200" b="1" dirty="0">
                <a:solidFill>
                  <a:srgbClr val="35562A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1" name="TextBox 47"/>
            <p:cNvSpPr txBox="1"/>
            <p:nvPr/>
          </p:nvSpPr>
          <p:spPr>
            <a:xfrm>
              <a:off x="9005272" y="228552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74.91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2" name="TextBox 48"/>
            <p:cNvSpPr txBox="1"/>
            <p:nvPr/>
          </p:nvSpPr>
          <p:spPr>
            <a:xfrm>
              <a:off x="10244916" y="2285524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10.03–99.88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3" name="TextBox 49"/>
            <p:cNvSpPr txBox="1"/>
            <p:nvPr/>
          </p:nvSpPr>
          <p:spPr>
            <a:xfrm>
              <a:off x="4719447" y="2695099"/>
              <a:ext cx="954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Qwen3.5-122B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4" name="TextBox 50"/>
            <p:cNvSpPr txBox="1"/>
            <p:nvPr/>
          </p:nvSpPr>
          <p:spPr>
            <a:xfrm>
              <a:off x="7072140" y="2695099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115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5" name="TextBox 51"/>
            <p:cNvSpPr txBox="1"/>
            <p:nvPr/>
          </p:nvSpPr>
          <p:spPr>
            <a:xfrm>
              <a:off x="7915656" y="267081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68.26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6" name="TextBox 52"/>
            <p:cNvSpPr txBox="1"/>
            <p:nvPr/>
          </p:nvSpPr>
          <p:spPr>
            <a:xfrm>
              <a:off x="9005272" y="2695099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74.90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7" name="TextBox 53"/>
            <p:cNvSpPr txBox="1"/>
            <p:nvPr/>
          </p:nvSpPr>
          <p:spPr>
            <a:xfrm>
              <a:off x="10281196" y="2695099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0.00–99.77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58" name="TextBox 54"/>
            <p:cNvSpPr txBox="1"/>
            <p:nvPr/>
          </p:nvSpPr>
          <p:spPr>
            <a:xfrm>
              <a:off x="4719447" y="3104674"/>
              <a:ext cx="880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Qwen3.6-27B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0" name="TextBox 55"/>
            <p:cNvSpPr txBox="1"/>
            <p:nvPr/>
          </p:nvSpPr>
          <p:spPr>
            <a:xfrm>
              <a:off x="7077582" y="310467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108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1" name="TextBox 56"/>
            <p:cNvSpPr txBox="1"/>
            <p:nvPr/>
          </p:nvSpPr>
          <p:spPr>
            <a:xfrm>
              <a:off x="7915656" y="30803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70.06</a:t>
              </a:r>
              <a:endParaRPr lang="en-US" sz="120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Box 57"/>
            <p:cNvSpPr txBox="1"/>
            <p:nvPr/>
          </p:nvSpPr>
          <p:spPr>
            <a:xfrm>
              <a:off x="9005272" y="3104674"/>
              <a:ext cx="3727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74.89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Box 58"/>
            <p:cNvSpPr txBox="1"/>
            <p:nvPr/>
          </p:nvSpPr>
          <p:spPr>
            <a:xfrm>
              <a:off x="10244916" y="3104674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10.04–99.88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oup 61"/>
          <p:cNvGrpSpPr/>
          <p:nvPr/>
        </p:nvGrpSpPr>
        <p:grpSpPr>
          <a:xfrm>
            <a:off x="860679" y="3213735"/>
            <a:ext cx="3949772" cy="234696"/>
            <a:chOff x="603504" y="3699510"/>
            <a:chExt cx="3949772" cy="234696"/>
          </a:xfrm>
        </p:grpSpPr>
        <p:sp>
          <p:nvSpPr>
            <p:cNvPr id="65" name="TextBox 60"/>
            <p:cNvSpPr txBox="1"/>
            <p:nvPr/>
          </p:nvSpPr>
          <p:spPr>
            <a:xfrm>
              <a:off x="603504" y="3699510"/>
              <a:ext cx="3949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8706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类别质量画像 · 单元格为 Mean（实际有分样本 N）</a:t>
              </a:r>
              <a:endParaRPr lang="zh-CN" sz="1200" b="1" dirty="0">
                <a:solidFill>
                  <a:srgbClr val="68706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66775" y="3457575"/>
            <a:ext cx="10972800" cy="1943100"/>
            <a:chOff x="609600" y="3943350"/>
            <a:chExt cx="10972800" cy="1943100"/>
          </a:xfrm>
        </p:grpSpPr>
        <p:sp>
          <p:nvSpPr>
            <p:cNvPr id="66" name="Rectangle 62"/>
            <p:cNvSpPr/>
            <p:nvPr/>
          </p:nvSpPr>
          <p:spPr>
            <a:xfrm>
              <a:off x="609600" y="3943350"/>
              <a:ext cx="10972800" cy="361950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67" name="Rectangle 63"/>
            <p:cNvSpPr/>
            <p:nvPr/>
          </p:nvSpPr>
          <p:spPr>
            <a:xfrm>
              <a:off x="609600" y="4305300"/>
              <a:ext cx="10972800" cy="523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Rectangle 64"/>
            <p:cNvSpPr/>
            <p:nvPr/>
          </p:nvSpPr>
          <p:spPr>
            <a:xfrm>
              <a:off x="609600" y="4829175"/>
              <a:ext cx="10972800" cy="523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5"/>
            <p:cNvSpPr/>
            <p:nvPr/>
          </p:nvSpPr>
          <p:spPr>
            <a:xfrm>
              <a:off x="609600" y="5353050"/>
              <a:ext cx="10972800" cy="523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Rectangle 66"/>
            <p:cNvSpPr/>
            <p:nvPr/>
          </p:nvSpPr>
          <p:spPr>
            <a:xfrm>
              <a:off x="2933700" y="4305300"/>
              <a:ext cx="1438275" cy="523875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71" name="Rectangle 67"/>
            <p:cNvSpPr/>
            <p:nvPr/>
          </p:nvSpPr>
          <p:spPr>
            <a:xfrm>
              <a:off x="2933700" y="4829175"/>
              <a:ext cx="1438275" cy="523875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72" name="Rectangle 68"/>
            <p:cNvSpPr/>
            <p:nvPr/>
          </p:nvSpPr>
          <p:spPr>
            <a:xfrm>
              <a:off x="2933700" y="5353050"/>
              <a:ext cx="1438275" cy="523875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73" name="Rectangle 69"/>
            <p:cNvSpPr/>
            <p:nvPr/>
          </p:nvSpPr>
          <p:spPr>
            <a:xfrm>
              <a:off x="4371975" y="4305300"/>
              <a:ext cx="4314825" cy="1571625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74" name="Rectangle 70"/>
            <p:cNvSpPr/>
            <p:nvPr/>
          </p:nvSpPr>
          <p:spPr>
            <a:xfrm>
              <a:off x="8686800" y="4305300"/>
              <a:ext cx="1438275" cy="1571625"/>
            </a:xfrm>
            <a:prstGeom prst="rect">
              <a:avLst/>
            </a:prstGeom>
            <a:solidFill>
              <a:srgbClr val="9A4937"/>
            </a:solidFill>
            <a:ln>
              <a:noFill/>
            </a:ln>
          </p:spPr>
        </p:sp>
        <p:sp>
          <p:nvSpPr>
            <p:cNvPr id="75" name="Rectangle 71"/>
            <p:cNvSpPr/>
            <p:nvPr/>
          </p:nvSpPr>
          <p:spPr>
            <a:xfrm>
              <a:off x="10125075" y="4305300"/>
              <a:ext cx="1457325" cy="523875"/>
            </a:xfrm>
            <a:prstGeom prst="rect">
              <a:avLst/>
            </a:prstGeom>
            <a:solidFill>
              <a:srgbClr val="445437"/>
            </a:solidFill>
            <a:ln>
              <a:noFill/>
            </a:ln>
          </p:spPr>
        </p:sp>
        <p:sp>
          <p:nvSpPr>
            <p:cNvPr id="76" name="Rectangle 72"/>
            <p:cNvSpPr/>
            <p:nvPr/>
          </p:nvSpPr>
          <p:spPr>
            <a:xfrm>
              <a:off x="10125075" y="4829175"/>
              <a:ext cx="1457325" cy="1047750"/>
            </a:xfrm>
            <a:prstGeom prst="rect">
              <a:avLst/>
            </a:prstGeom>
            <a:solidFill>
              <a:srgbClr val="EEF2EA"/>
            </a:solidFill>
            <a:ln>
              <a:noFill/>
            </a:ln>
          </p:spPr>
        </p:sp>
        <p:sp>
          <p:nvSpPr>
            <p:cNvPr id="77" name="Line 73"/>
            <p:cNvSpPr/>
            <p:nvPr/>
          </p:nvSpPr>
          <p:spPr>
            <a:xfrm>
              <a:off x="2933700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8" name="Line 74"/>
            <p:cNvSpPr/>
            <p:nvPr/>
          </p:nvSpPr>
          <p:spPr>
            <a:xfrm>
              <a:off x="4371975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79" name="Line 75"/>
            <p:cNvSpPr/>
            <p:nvPr/>
          </p:nvSpPr>
          <p:spPr>
            <a:xfrm>
              <a:off x="5810250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0" name="Line 76"/>
            <p:cNvSpPr/>
            <p:nvPr/>
          </p:nvSpPr>
          <p:spPr>
            <a:xfrm>
              <a:off x="7248525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1" name="Line 77"/>
            <p:cNvSpPr/>
            <p:nvPr/>
          </p:nvSpPr>
          <p:spPr>
            <a:xfrm>
              <a:off x="8686800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2" name="Line 78"/>
            <p:cNvSpPr/>
            <p:nvPr/>
          </p:nvSpPr>
          <p:spPr>
            <a:xfrm>
              <a:off x="10125075" y="3943350"/>
              <a:ext cx="9525" cy="1933575"/>
            </a:xfrm>
            <a:custGeom>
              <a:avLst/>
              <a:gdLst/>
              <a:ahLst/>
              <a:cxnLst/>
              <a:rect l="l" t="t" r="r" b="b"/>
              <a:pathLst>
                <a:path w="9525" h="1933575">
                  <a:moveTo>
                    <a:pt x="0" y="0"/>
                  </a:moveTo>
                  <a:lnTo>
                    <a:pt x="0" y="1933575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3" name="Line 79"/>
            <p:cNvSpPr/>
            <p:nvPr/>
          </p:nvSpPr>
          <p:spPr>
            <a:xfrm>
              <a:off x="609600" y="4305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4" name="Line 80"/>
            <p:cNvSpPr/>
            <p:nvPr/>
          </p:nvSpPr>
          <p:spPr>
            <a:xfrm>
              <a:off x="609600" y="4829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5" name="Line 81"/>
            <p:cNvSpPr/>
            <p:nvPr/>
          </p:nvSpPr>
          <p:spPr>
            <a:xfrm>
              <a:off x="609600" y="5353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6" name="Line 82"/>
            <p:cNvSpPr/>
            <p:nvPr/>
          </p:nvSpPr>
          <p:spPr>
            <a:xfrm>
              <a:off x="609600" y="5876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6DCCF"/>
              </a:solidFill>
            </a:ln>
          </p:spPr>
        </p:sp>
        <p:sp>
          <p:nvSpPr>
            <p:cNvPr id="87" name="Rectangle 83"/>
            <p:cNvSpPr/>
            <p:nvPr/>
          </p:nvSpPr>
          <p:spPr>
            <a:xfrm>
              <a:off x="8686800" y="3943350"/>
              <a:ext cx="1438275" cy="38100"/>
            </a:xfrm>
            <a:prstGeom prst="rect">
              <a:avLst/>
            </a:prstGeom>
            <a:solidFill>
              <a:srgbClr val="F4C400"/>
            </a:solidFill>
            <a:ln>
              <a:noFill/>
            </a:ln>
          </p:spPr>
        </p:sp>
        <p:sp>
          <p:nvSpPr>
            <p:cNvPr id="88" name="TextBox 84"/>
            <p:cNvSpPr txBox="1"/>
            <p:nvPr/>
          </p:nvSpPr>
          <p:spPr>
            <a:xfrm>
              <a:off x="757047" y="4076224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Model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89" name="TextBox 85"/>
            <p:cNvSpPr txBox="1"/>
            <p:nvPr/>
          </p:nvSpPr>
          <p:spPr>
            <a:xfrm>
              <a:off x="3370837" y="40762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代码生成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0" name="TextBox 86"/>
            <p:cNvSpPr txBox="1"/>
            <p:nvPr/>
          </p:nvSpPr>
          <p:spPr>
            <a:xfrm>
              <a:off x="4809112" y="40762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编译修复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1" name="TextBox 87"/>
            <p:cNvSpPr txBox="1"/>
            <p:nvPr/>
          </p:nvSpPr>
          <p:spPr>
            <a:xfrm>
              <a:off x="6247387" y="40762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综合修复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2" name="TextBox 88"/>
            <p:cNvSpPr txBox="1"/>
            <p:nvPr/>
          </p:nvSpPr>
          <p:spPr>
            <a:xfrm>
              <a:off x="7685662" y="40762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功能修复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3" name="TextBox 89"/>
            <p:cNvSpPr txBox="1"/>
            <p:nvPr/>
          </p:nvSpPr>
          <p:spPr>
            <a:xfrm>
              <a:off x="9123937" y="40762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结构修复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4" name="TextBox 90"/>
            <p:cNvSpPr txBox="1"/>
            <p:nvPr/>
          </p:nvSpPr>
          <p:spPr>
            <a:xfrm>
              <a:off x="10550501" y="4076224"/>
              <a:ext cx="6064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QoR 优化</a:t>
              </a:r>
              <a:endParaRPr lang="zh-CN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5" name="TextBox 91"/>
            <p:cNvSpPr txBox="1"/>
            <p:nvPr/>
          </p:nvSpPr>
          <p:spPr>
            <a:xfrm>
              <a:off x="757047" y="4523899"/>
              <a:ext cx="11037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DeepSeek V4 Pro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6" name="TextBox 92"/>
            <p:cNvSpPr txBox="1"/>
            <p:nvPr/>
          </p:nvSpPr>
          <p:spPr>
            <a:xfrm>
              <a:off x="3223426" y="4523899"/>
              <a:ext cx="858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88.16 (N=4)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7" name="TextBox 93"/>
            <p:cNvSpPr txBox="1"/>
            <p:nvPr/>
          </p:nvSpPr>
          <p:spPr>
            <a:xfrm>
              <a:off x="4643580" y="452389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77.84 (N=17)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8" name="TextBox 94"/>
            <p:cNvSpPr txBox="1"/>
            <p:nvPr/>
          </p:nvSpPr>
          <p:spPr>
            <a:xfrm>
              <a:off x="6081855" y="452389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75.19 (N=20)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99" name="TextBox 95"/>
            <p:cNvSpPr txBox="1"/>
            <p:nvPr/>
          </p:nvSpPr>
          <p:spPr>
            <a:xfrm>
              <a:off x="7520130" y="452389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74.91 (N=24)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0" name="TextBox 96"/>
            <p:cNvSpPr txBox="1"/>
            <p:nvPr/>
          </p:nvSpPr>
          <p:spPr>
            <a:xfrm>
              <a:off x="8936276" y="4523899"/>
              <a:ext cx="93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42.53 (N=24)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1" name="TextBox 97"/>
            <p:cNvSpPr txBox="1"/>
            <p:nvPr/>
          </p:nvSpPr>
          <p:spPr>
            <a:xfrm>
              <a:off x="10384076" y="4523899"/>
              <a:ext cx="93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80.49 (N=25)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2" name="TextBox 98"/>
            <p:cNvSpPr txBox="1"/>
            <p:nvPr/>
          </p:nvSpPr>
          <p:spPr>
            <a:xfrm>
              <a:off x="757047" y="5047774"/>
              <a:ext cx="954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Qwen3.5-122B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3" name="TextBox 99"/>
            <p:cNvSpPr txBox="1"/>
            <p:nvPr/>
          </p:nvSpPr>
          <p:spPr>
            <a:xfrm>
              <a:off x="3223426" y="5047774"/>
              <a:ext cx="858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63.20 (N=4)</a:t>
              </a:r>
              <a:endParaRPr lang="en-US" sz="980" b="1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4" name="TextBox 100"/>
            <p:cNvSpPr txBox="1"/>
            <p:nvPr/>
          </p:nvSpPr>
          <p:spPr>
            <a:xfrm>
              <a:off x="4643580" y="5047774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74.91 (N=17)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5" name="TextBox 101"/>
            <p:cNvSpPr txBox="1"/>
            <p:nvPr/>
          </p:nvSpPr>
          <p:spPr>
            <a:xfrm>
              <a:off x="6081855" y="5047774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74.91 (N=20)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6" name="TextBox 102"/>
            <p:cNvSpPr txBox="1"/>
            <p:nvPr/>
          </p:nvSpPr>
          <p:spPr>
            <a:xfrm>
              <a:off x="7520130" y="5047774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74.91 (N=24)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7" name="TextBox 103"/>
            <p:cNvSpPr txBox="1"/>
            <p:nvPr/>
          </p:nvSpPr>
          <p:spPr>
            <a:xfrm>
              <a:off x="8936276" y="5047774"/>
              <a:ext cx="93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44.57 (N=25)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8" name="TextBox 104"/>
            <p:cNvSpPr txBox="1"/>
            <p:nvPr/>
          </p:nvSpPr>
          <p:spPr>
            <a:xfrm>
              <a:off x="10406205" y="5047774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76.55 (N=25)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09" name="TextBox 105"/>
            <p:cNvSpPr txBox="1"/>
            <p:nvPr/>
          </p:nvSpPr>
          <p:spPr>
            <a:xfrm>
              <a:off x="757047" y="5571649"/>
              <a:ext cx="8801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Qwen3.6-27B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0" name="TextBox 106"/>
            <p:cNvSpPr txBox="1"/>
            <p:nvPr/>
          </p:nvSpPr>
          <p:spPr>
            <a:xfrm>
              <a:off x="3223426" y="5571649"/>
              <a:ext cx="8588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88.16 (N=4)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1" name="TextBox 107"/>
            <p:cNvSpPr txBox="1"/>
            <p:nvPr/>
          </p:nvSpPr>
          <p:spPr>
            <a:xfrm>
              <a:off x="4643580" y="557164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74.89 (N=17)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3" name="TextBox 108"/>
            <p:cNvSpPr txBox="1"/>
            <p:nvPr/>
          </p:nvSpPr>
          <p:spPr>
            <a:xfrm>
              <a:off x="6081855" y="557164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74.90 (N=20)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4" name="TextBox 109"/>
            <p:cNvSpPr txBox="1"/>
            <p:nvPr/>
          </p:nvSpPr>
          <p:spPr>
            <a:xfrm>
              <a:off x="7520130" y="557164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75.47 (N=24)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5" name="TextBox 110"/>
            <p:cNvSpPr txBox="1"/>
            <p:nvPr/>
          </p:nvSpPr>
          <p:spPr>
            <a:xfrm>
              <a:off x="8936276" y="5571649"/>
              <a:ext cx="93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40.05 (N=18)</a:t>
              </a:r>
              <a:endParaRPr lang="en-US" sz="98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16" name="TextBox 111"/>
            <p:cNvSpPr txBox="1"/>
            <p:nvPr/>
          </p:nvSpPr>
          <p:spPr>
            <a:xfrm>
              <a:off x="10406205" y="5571649"/>
              <a:ext cx="89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E241C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76.43 (N=25)</a:t>
              </a:r>
              <a:endParaRPr lang="en-US" sz="980" dirty="0">
                <a:solidFill>
                  <a:srgbClr val="1E241C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8" name="右箭头 7"/>
          <p:cNvSpPr/>
          <p:nvPr/>
        </p:nvSpPr>
        <p:spPr>
          <a:xfrm rot="8460000">
            <a:off x="3198495" y="5425440"/>
            <a:ext cx="429260" cy="298450"/>
          </a:xfrm>
          <a:prstGeom prst="rightArrow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 rot="6540000">
            <a:off x="10967720" y="5335270"/>
            <a:ext cx="360045" cy="298450"/>
          </a:xfrm>
          <a:prstGeom prst="rightArrow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151890" y="214630"/>
            <a:ext cx="5335905" cy="584200"/>
          </a:xfrm>
        </p:spPr>
        <p:txBody>
          <a:bodyPr wrap="square"/>
          <a:lstStyle/>
          <a:p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创新点与</a:t>
            </a:r>
            <a:r>
              <a:rPr lang="zh-CN" altLang="en-US" sz="3200" dirty="0">
                <a:solidFill>
                  <a:srgbClr val="385723"/>
                </a:solidFill>
                <a:sym typeface="+mn-ea"/>
              </a:rPr>
              <a:t>局限性</a:t>
            </a:r>
            <a:endParaRPr lang="zh-CN" altLang="en-US" sz="3200" dirty="0">
              <a:solidFill>
                <a:srgbClr val="385723"/>
              </a:solidFill>
              <a:sym typeface="+mn-ea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6016625" y="934720"/>
            <a:ext cx="5331460" cy="3411855"/>
            <a:chOff x="9475" y="1472"/>
            <a:chExt cx="8396" cy="5373"/>
          </a:xfrm>
        </p:grpSpPr>
        <p:grpSp>
          <p:nvGrpSpPr>
            <p:cNvPr id="3" name="组合 2"/>
            <p:cNvGrpSpPr/>
            <p:nvPr/>
          </p:nvGrpSpPr>
          <p:grpSpPr>
            <a:xfrm>
              <a:off x="9475" y="5671"/>
              <a:ext cx="8135" cy="1175"/>
              <a:chOff x="744" y="6544"/>
              <a:chExt cx="8135" cy="117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745" y="6544"/>
                <a:ext cx="1373" cy="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COVERAGE</a:t>
                </a:r>
                <a:endParaRPr lang="en-US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44" y="6868"/>
                <a:ext cx="8135" cy="8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2175"/>
                  </a:lnSpc>
                </a:pP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证据来自 </a:t>
                </a:r>
                <a:r>
                  <a:rPr lang="zh-CN" sz="1400"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2 个 AMD 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repo、单工具、单器件、单时钟；暂无 power。CoSim 只覆盖 manifest 中 25 个 Structural tasks；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目标平台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Alveo U55C</a:t>
                </a:r>
                <a:r>
                  <a:rPr 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。</a:t>
                </a:r>
                <a:endParaRPr lang="zh-CN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9475" y="1472"/>
              <a:ext cx="8397" cy="4034"/>
              <a:chOff x="10865" y="2082"/>
              <a:chExt cx="8397" cy="4034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10866" y="2869"/>
                <a:ext cx="8396" cy="3247"/>
                <a:chOff x="598932" y="1748708"/>
                <a:chExt cx="5331460" cy="2061673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603504" y="1748708"/>
                  <a:ext cx="24406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35562A"/>
                      </a:solidFill>
                      <a:latin typeface="+mn-lt"/>
                      <a:ea typeface="+mn-ea"/>
                      <a:cs typeface="+mn-cs"/>
                    </a:rPr>
                    <a:t>VALIDATED / REQUIRED INPUTS</a:t>
                  </a:r>
                  <a:endParaRPr lang="en-US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8932" y="1973580"/>
                  <a:ext cx="4267200" cy="6457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altLang="zh-CN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Agent </a:t>
                  </a:r>
                  <a:r>
                    <a:rPr lang="zh-CN" altLang="en-US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当前依赖成熟的工程输入，</a:t>
                  </a:r>
                  <a:endPara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  <a:p>
                  <a:pPr algn="l"/>
                  <a:r>
                    <a:rPr lang="zh-CN" altLang="en-US" sz="21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跨工具与跨器件能力尚未完成验证。</a:t>
                  </a:r>
                  <a:endPara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Line 12"/>
                <p:cNvSpPr/>
                <p:nvPr/>
              </p:nvSpPr>
              <p:spPr>
                <a:xfrm>
                  <a:off x="609600" y="2724150"/>
                  <a:ext cx="41719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1950" h="9525">
                      <a:moveTo>
                        <a:pt x="0" y="0"/>
                      </a:moveTo>
                      <a:lnTo>
                        <a:pt x="4171950" y="0"/>
                      </a:lnTo>
                    </a:path>
                  </a:pathLst>
                </a:custGeom>
                <a:noFill/>
                <a:ln w="19050">
                  <a:solidFill>
                    <a:srgbClr val="D6DCCF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603504" y="294703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01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40892" y="2930842"/>
                  <a:ext cx="48895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公开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testbench 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与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build script；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明确接口、容差和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target</a:t>
                  </a:r>
                  <a:endPara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03504" y="325183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02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40892" y="3235642"/>
                  <a:ext cx="47117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提供有效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baseline / reference，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支持候选的相对质量比较</a:t>
                  </a:r>
                  <a:endPara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03504" y="3575685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Consolas" panose="020B0609020204030204"/>
                      <a:ea typeface="Consolas" panose="020B0609020204030204"/>
                      <a:cs typeface="Consolas" panose="020B0609020204030204"/>
                    </a:rPr>
                    <a:t>03</a:t>
                  </a:r>
                  <a:endPara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endParaRP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040892" y="3559492"/>
                  <a:ext cx="4622800" cy="2152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任务明确是否需要 </a:t>
                  </a:r>
                  <a:r>
                    <a:rPr lang="en-US" altLang="zh-CN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CoSim，</a:t>
                  </a:r>
                  <a:r>
                    <a:rPr lang="zh-CN" altLang="en-US" sz="1400" dirty="0">
                      <a:solidFill>
                        <a:schemeClr val="dk1"/>
                      </a:solidFill>
                      <a:latin typeface="仿宋" panose="02010609060101010101" charset="-122"/>
                      <a:ea typeface="仿宋" panose="02010609060101010101" charset="-122"/>
                      <a:cs typeface="仿宋" panose="02010609060101010101" charset="-122"/>
                    </a:rPr>
                    <a:t>并使用固定任务清单与工具预算</a:t>
                  </a:r>
                  <a:endPara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endParaRPr>
                </a:p>
              </p:txBody>
            </p:sp>
          </p:grpSp>
          <p:sp>
            <p:nvSpPr>
              <p:cNvPr id="77" name="文本框 76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0865" y="2082"/>
                <a:ext cx="1869" cy="72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1"/>
                    </a:solidFill>
                    <a:latin typeface="Arial" panose="020B0604020202020204"/>
                    <a:cs typeface="+mn-ea"/>
                  </a:rPr>
                  <a:t>局限性</a:t>
                </a:r>
                <a:endPara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62280" y="989330"/>
            <a:ext cx="5331460" cy="2863215"/>
            <a:chOff x="728" y="1908"/>
            <a:chExt cx="8396" cy="4509"/>
          </a:xfrm>
        </p:grpSpPr>
        <p:sp>
          <p:nvSpPr>
            <p:cNvPr id="39" name="文本框 38"/>
            <p:cNvSpPr txBox="1"/>
            <p:nvPr>
              <p:custDataLst>
                <p:tags r:id="rId2"/>
              </p:custDataLst>
            </p:nvPr>
          </p:nvSpPr>
          <p:spPr>
            <a:xfrm>
              <a:off x="745" y="1908"/>
              <a:ext cx="1939" cy="7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rPr>
                <a:t>创新点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endParaRPr>
            </a:p>
          </p:txBody>
        </p:sp>
        <p:grpSp>
          <p:nvGrpSpPr>
            <p:cNvPr id="40" name="Group 23"/>
            <p:cNvGrpSpPr/>
            <p:nvPr/>
          </p:nvGrpSpPr>
          <p:grpSpPr>
            <a:xfrm>
              <a:off x="728" y="2657"/>
              <a:ext cx="8396" cy="3760"/>
              <a:chOff x="598932" y="1734185"/>
              <a:chExt cx="5331460" cy="2387346"/>
            </a:xfrm>
          </p:grpSpPr>
          <p:sp>
            <p:nvSpPr>
              <p:cNvPr id="41" name="TextBox 9"/>
              <p:cNvSpPr txBox="1"/>
              <p:nvPr/>
            </p:nvSpPr>
            <p:spPr>
              <a:xfrm>
                <a:off x="603504" y="1734185"/>
                <a:ext cx="1622425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KEY CONTRIBUTIONS</a:t>
                </a:r>
                <a:endParaRPr lang="en-US" altLang="zh-CN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10"/>
              <p:cNvSpPr txBox="1"/>
              <p:nvPr/>
            </p:nvSpPr>
            <p:spPr>
              <a:xfrm>
                <a:off x="598932" y="1973580"/>
                <a:ext cx="4533900" cy="322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把“生成候选”变成“验证后晋升”</a:t>
                </a:r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endPara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11"/>
              <p:cNvSpPr txBox="1"/>
              <p:nvPr/>
            </p:nvSpPr>
            <p:spPr>
              <a:xfrm>
                <a:off x="601218" y="2374582"/>
                <a:ext cx="3771900" cy="253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让硬件证据而不是模型置信度控制迭代。</a:t>
                </a:r>
                <a:endPara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Line 12"/>
              <p:cNvSpPr/>
              <p:nvPr/>
            </p:nvSpPr>
            <p:spPr>
              <a:xfrm>
                <a:off x="609600" y="2730500"/>
                <a:ext cx="417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71950" h="9525">
                    <a:moveTo>
                      <a:pt x="0" y="0"/>
                    </a:moveTo>
                    <a:lnTo>
                      <a:pt x="4171950" y="0"/>
                    </a:lnTo>
                  </a:path>
                </a:pathLst>
              </a:custGeom>
              <a:noFill/>
              <a:ln w="19050">
                <a:solidFill>
                  <a:srgbClr val="D6DCCF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" name="TextBox 13"/>
              <p:cNvSpPr txBox="1"/>
              <p:nvPr/>
            </p:nvSpPr>
            <p:spPr>
              <a:xfrm>
                <a:off x="603504" y="29533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6" name="TextBox 14"/>
              <p:cNvSpPr txBox="1"/>
              <p:nvPr/>
            </p:nvSpPr>
            <p:spPr>
              <a:xfrm>
                <a:off x="1040892" y="2937192"/>
                <a:ext cx="34671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提出综合有效性能与最坏资源质量的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QHW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指标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47" name="TextBox 15"/>
              <p:cNvSpPr txBox="1"/>
              <p:nvPr/>
            </p:nvSpPr>
            <p:spPr>
              <a:xfrm>
                <a:off x="603504" y="32645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8" name="TextBox 16"/>
              <p:cNvSpPr txBox="1"/>
              <p:nvPr/>
            </p:nvSpPr>
            <p:spPr>
              <a:xfrm>
                <a:off x="1040892" y="3248342"/>
                <a:ext cx="43561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将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QHW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嵌入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VCL，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控制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Optimize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候选是否更新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best-so-far</a:t>
                </a:r>
                <a:endParaRPr lang="en-US" altLang="zh-CN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49" name="TextBox 17"/>
              <p:cNvSpPr txBox="1"/>
              <p:nvPr/>
            </p:nvSpPr>
            <p:spPr>
              <a:xfrm>
                <a:off x="603504" y="3569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0" name="TextBox 18"/>
              <p:cNvSpPr txBox="1"/>
              <p:nvPr/>
            </p:nvSpPr>
            <p:spPr>
              <a:xfrm>
                <a:off x="1040892" y="3553142"/>
                <a:ext cx="40894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复用工具诊断与实测退化证据，约束下一轮候选生成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51" name="TextBox 19"/>
              <p:cNvSpPr txBox="1"/>
              <p:nvPr/>
            </p:nvSpPr>
            <p:spPr>
              <a:xfrm>
                <a:off x="603504" y="38868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04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52" name="TextBox 20"/>
              <p:cNvSpPr txBox="1"/>
              <p:nvPr/>
            </p:nvSpPr>
            <p:spPr>
              <a:xfrm>
                <a:off x="1040892" y="3870642"/>
                <a:ext cx="48895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通过预算准入与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verified fallback，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避免不完整验证污染结果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>
          <a:xfrm>
            <a:off x="3167380" y="4030345"/>
            <a:ext cx="4709160" cy="2545681"/>
            <a:chOff x="728" y="1908"/>
            <a:chExt cx="7416" cy="4009"/>
          </a:xfrm>
        </p:grpSpPr>
        <p:sp>
          <p:nvSpPr>
            <p:cNvPr id="57" name="文本框 56"/>
            <p:cNvSpPr txBox="1"/>
            <p:nvPr>
              <p:custDataLst>
                <p:tags r:id="rId3"/>
              </p:custDataLst>
            </p:nvPr>
          </p:nvSpPr>
          <p:spPr>
            <a:xfrm>
              <a:off x="745" y="1908"/>
              <a:ext cx="3499" cy="72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Arial" panose="020B0604020202020204"/>
                  <a:cs typeface="+mn-ea"/>
                </a:rPr>
                <a:t>下一步计划</a:t>
              </a:r>
              <a:endParaRPr lang="zh-CN" altLang="en-US" sz="2400" b="1" dirty="0">
                <a:solidFill>
                  <a:schemeClr val="accent1"/>
                </a:solidFill>
                <a:latin typeface="Arial" panose="020B0604020202020204"/>
                <a:cs typeface="+mn-ea"/>
              </a:endParaRPr>
            </a:p>
          </p:txBody>
        </p:sp>
        <p:grpSp>
          <p:nvGrpSpPr>
            <p:cNvPr id="58" name="Group 23"/>
            <p:cNvGrpSpPr/>
            <p:nvPr/>
          </p:nvGrpSpPr>
          <p:grpSpPr>
            <a:xfrm>
              <a:off x="728" y="2657"/>
              <a:ext cx="7416" cy="3260"/>
              <a:chOff x="598932" y="1734185"/>
              <a:chExt cx="4709160" cy="2069846"/>
            </a:xfrm>
          </p:grpSpPr>
          <p:sp>
            <p:nvSpPr>
              <p:cNvPr id="59" name="TextBox 9"/>
              <p:cNvSpPr txBox="1"/>
              <p:nvPr/>
            </p:nvSpPr>
            <p:spPr>
              <a:xfrm>
                <a:off x="603504" y="1734185"/>
                <a:ext cx="1259205" cy="1841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1200" b="1" dirty="0">
                    <a:solidFill>
                      <a:srgbClr val="35562A"/>
                    </a:solidFill>
                    <a:latin typeface="+mn-lt"/>
                    <a:ea typeface="+mn-ea"/>
                    <a:cs typeface="+mn-cs"/>
                  </a:rPr>
                  <a:t>NEXT ITERATION</a:t>
                </a:r>
                <a:endParaRPr lang="en-US" altLang="zh-CN" sz="1200" b="1" dirty="0">
                  <a:solidFill>
                    <a:srgbClr val="35562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10"/>
              <p:cNvSpPr txBox="1"/>
              <p:nvPr/>
            </p:nvSpPr>
            <p:spPr>
              <a:xfrm>
                <a:off x="598932" y="1973580"/>
                <a:ext cx="3676015" cy="322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先提高 </a:t>
                </a:r>
                <a:r>
                  <a:rPr lang="en-US" alt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Optimize </a:t>
                </a:r>
                <a:r>
                  <a:rPr lang="zh-CN" altLang="en-US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的质量上限，</a:t>
                </a:r>
                <a:endParaRPr lang="zh-CN" alt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11"/>
              <p:cNvSpPr txBox="1"/>
              <p:nvPr/>
            </p:nvSpPr>
            <p:spPr>
              <a:xfrm>
                <a:off x="601218" y="2374582"/>
                <a:ext cx="3562350" cy="253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再扩展任务输入、工具链与器件边界。</a:t>
                </a:r>
                <a:endParaRPr lang="zh-CN" alt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Line 12"/>
              <p:cNvSpPr/>
              <p:nvPr/>
            </p:nvSpPr>
            <p:spPr>
              <a:xfrm>
                <a:off x="609600" y="2730500"/>
                <a:ext cx="417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71950" h="9525">
                    <a:moveTo>
                      <a:pt x="0" y="0"/>
                    </a:moveTo>
                    <a:lnTo>
                      <a:pt x="4171950" y="0"/>
                    </a:lnTo>
                  </a:path>
                </a:pathLst>
              </a:custGeom>
              <a:noFill/>
              <a:ln w="19050">
                <a:solidFill>
                  <a:srgbClr val="D6DCCF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3" name="TextBox 13"/>
              <p:cNvSpPr txBox="1"/>
              <p:nvPr/>
            </p:nvSpPr>
            <p:spPr>
              <a:xfrm>
                <a:off x="603504" y="29533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4" name="TextBox 14"/>
              <p:cNvSpPr txBox="1"/>
              <p:nvPr/>
            </p:nvSpPr>
            <p:spPr>
              <a:xfrm>
                <a:off x="1040892" y="2937192"/>
                <a:ext cx="42672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增强循环、访存、流水线与 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Dataflow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的定向优化策略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65" name="TextBox 15"/>
              <p:cNvSpPr txBox="1"/>
              <p:nvPr/>
            </p:nvSpPr>
            <p:spPr>
              <a:xfrm>
                <a:off x="603504" y="32645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6" name="TextBox 16"/>
              <p:cNvSpPr txBox="1"/>
              <p:nvPr/>
            </p:nvSpPr>
            <p:spPr>
              <a:xfrm>
                <a:off x="1040892" y="3248342"/>
                <a:ext cx="34671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扩展均衡、速度优先和面积优先的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 QHW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配置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  <p:sp>
            <p:nvSpPr>
              <p:cNvPr id="67" name="TextBox 17"/>
              <p:cNvSpPr txBox="1"/>
              <p:nvPr/>
            </p:nvSpPr>
            <p:spPr>
              <a:xfrm>
                <a:off x="603504" y="3569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en-US" sz="1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8" name="TextBox 18"/>
              <p:cNvSpPr txBox="1"/>
              <p:nvPr/>
            </p:nvSpPr>
            <p:spPr>
              <a:xfrm>
                <a:off x="1040892" y="3553142"/>
                <a:ext cx="4178300" cy="215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增加工程输入与 </a:t>
                </a:r>
                <a:r>
                  <a:rPr lang="en-US" altLang="zh-CN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testbench </a:t>
                </a:r>
                <a:r>
                  <a:rPr lang="zh-CN" altLang="en-US" sz="1400" dirty="0">
                    <a:solidFill>
                      <a:schemeClr val="dk1"/>
                    </a:solidFill>
                    <a:latin typeface="仿宋" panose="02010609060101010101" charset="-122"/>
                    <a:ea typeface="仿宋" panose="02010609060101010101" charset="-122"/>
                    <a:cs typeface="仿宋" panose="02010609060101010101" charset="-122"/>
                  </a:rPr>
                  <a:t>的完整性诊断和辅助修复</a:t>
                </a:r>
                <a:endParaRPr lang="zh-CN" altLang="en-US" sz="1400" dirty="0">
                  <a:solidFill>
                    <a:schemeClr val="dk1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00710" y="2396490"/>
            <a:ext cx="6120765" cy="90678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385723"/>
                </a:solidFill>
                <a:ea typeface="+mn-ea"/>
                <a:cs typeface="+mn-ea"/>
              </a:rPr>
              <a:t>感谢观看！</a:t>
            </a:r>
            <a:endParaRPr lang="zh-CN" altLang="en-US" dirty="0">
              <a:solidFill>
                <a:srgbClr val="385723"/>
              </a:solidFill>
              <a:ea typeface="+mn-ea"/>
              <a:cs typeface="+mn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1" u="none" strike="noStrike" kern="1200" cap="none" spc="300" normalizeH="0" baseline="0" noProof="0" dirty="0">
                <a:ln>
                  <a:noFill/>
                </a:ln>
                <a:solidFill>
                  <a:srgbClr val="44543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止于至善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5445" y="322695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50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ea"/>
              </a:rPr>
              <a:t>Thanks for watching!</a:t>
            </a:r>
            <a:endParaRPr kumimoji="0" lang="en-US" altLang="zh-CN" sz="1200" b="0" i="0" u="none" strike="noStrike" kern="1200" cap="none" spc="50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1479" y="4904118"/>
            <a:ext cx="4895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成</a:t>
            </a:r>
            <a:r>
              <a:rPr lang="en-US" altLang="zh-CN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  <a:sym typeface="+mn-ea"/>
              </a:rPr>
              <a:t>员：</a:t>
            </a:r>
            <a:r>
              <a:rPr lang="zh-C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陈际舟  文皓玉</a:t>
            </a:r>
            <a:r>
              <a:rPr lang="en-US" altLang="zh-C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胡笑歌</a:t>
            </a:r>
            <a:r>
              <a:rPr lang="en-US" altLang="zh-C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sym typeface="+mn-ea"/>
              </a:rPr>
              <a:t>     	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1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6.xml><?xml version="1.0" encoding="utf-8"?>
<p:tagLst xmlns:p="http://schemas.openxmlformats.org/presentationml/2006/main">
  <p:tag name="KSO_WM_DIAGRAM_VIRTUALLY_FRAME" val="{&quot;height&quot;:370.424094488189,&quot;left&quot;:6.55,&quot;top&quot;:100.35,&quot;width&quot;:901.8}"/>
</p:tagLst>
</file>

<file path=ppt/tags/tag2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2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6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7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8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39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0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1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2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3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4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ags/tag45.xml><?xml version="1.0" encoding="utf-8"?>
<p:tagLst xmlns:p="http://schemas.openxmlformats.org/presentationml/2006/main">
  <p:tag name="KSO_WM_DIAGRAM_VIRTUALLY_FRAME" val="{&quot;height&quot;:370.424094488189,&quot;left&quot;:6.55,&quot;top&quot;:100.35,&quot;width&quot;:927.245905511811}"/>
</p:tagLst>
</file>

<file path=ppt/theme/theme1.xml><?xml version="1.0" encoding="utf-8"?>
<a:theme xmlns:a="http://schemas.openxmlformats.org/drawingml/2006/main" name="1_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4363</Words>
  <Application>WPS 演示</Application>
  <PresentationFormat>宽屏</PresentationFormat>
  <Paragraphs>647</Paragraphs>
  <Slides>10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等线</vt:lpstr>
      <vt:lpstr>仿宋</vt:lpstr>
      <vt:lpstr>OPPOSans H</vt:lpstr>
      <vt:lpstr>Consolas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 zbh</dc:creator>
  <cp:lastModifiedBy>溪芹梦阮</cp:lastModifiedBy>
  <cp:revision>167</cp:revision>
  <dcterms:created xsi:type="dcterms:W3CDTF">2025-11-15T06:55:00Z</dcterms:created>
  <dcterms:modified xsi:type="dcterms:W3CDTF">2026-08-01T08:39:43Z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D1D7F6D26FF54030BF05D606242C73D1_13</vt:lpwstr>
  </property>
  <property fmtid="{D5CDD505-2E9C-101B-9397-08002B2CF9AE}" pid="3" name="KSOProductBuildVer">
    <vt:lpwstr>2052-12.1.0.26895</vt:lpwstr>
  </property>
</Properties>
</file>